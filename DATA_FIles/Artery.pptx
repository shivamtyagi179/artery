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4"/>
  </p:notesMasterIdLst>
  <p:sldIdLst>
    <p:sldId id="297" r:id="rId2"/>
    <p:sldId id="256" r:id="rId3"/>
    <p:sldId id="291" r:id="rId4"/>
    <p:sldId id="257" r:id="rId5"/>
    <p:sldId id="294" r:id="rId6"/>
    <p:sldId id="292" r:id="rId7"/>
    <p:sldId id="293" r:id="rId8"/>
    <p:sldId id="295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6" r:id="rId42"/>
    <p:sldId id="258" r:id="rId4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82291EE-7FA1-4FE3-92A0-18D746FE9AB1}">
          <p14:sldIdLst>
            <p14:sldId id="297"/>
            <p14:sldId id="256"/>
            <p14:sldId id="291"/>
            <p14:sldId id="257"/>
            <p14:sldId id="294"/>
            <p14:sldId id="292"/>
            <p14:sldId id="293"/>
            <p14:sldId id="295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6"/>
            <p14:sldId id="25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67E5BF3-9234-458E-9A53-A73034F82978}" v="1" dt="2025-12-08T13:26:20.8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77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50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ivam tyagi" userId="52d8ec56f2bde10e" providerId="LiveId" clId="{8681B0DB-A163-4EFC-BB72-306D3551ADB0}"/>
    <pc:docChg chg="undo custSel modSld sldOrd">
      <pc:chgData name="Shivam tyagi" userId="52d8ec56f2bde10e" providerId="LiveId" clId="{8681B0DB-A163-4EFC-BB72-306D3551ADB0}" dt="2025-12-08T13:27:08.783" v="873" actId="20577"/>
      <pc:docMkLst>
        <pc:docMk/>
      </pc:docMkLst>
      <pc:sldChg chg="modSp mod">
        <pc:chgData name="Shivam tyagi" userId="52d8ec56f2bde10e" providerId="LiveId" clId="{8681B0DB-A163-4EFC-BB72-306D3551ADB0}" dt="2025-12-08T13:20:26.567" v="680" actId="20577"/>
        <pc:sldMkLst>
          <pc:docMk/>
          <pc:sldMk cId="2582266751" sldId="256"/>
        </pc:sldMkLst>
        <pc:spChg chg="mod">
          <ac:chgData name="Shivam tyagi" userId="52d8ec56f2bde10e" providerId="LiveId" clId="{8681B0DB-A163-4EFC-BB72-306D3551ADB0}" dt="2025-12-08T13:20:26.567" v="680" actId="20577"/>
          <ac:spMkLst>
            <pc:docMk/>
            <pc:sldMk cId="2582266751" sldId="256"/>
            <ac:spMk id="3" creationId="{B6B47998-F0DB-F97C-0E71-1BFB5405483D}"/>
          </ac:spMkLst>
        </pc:spChg>
      </pc:sldChg>
      <pc:sldChg chg="modSp mod">
        <pc:chgData name="Shivam tyagi" userId="52d8ec56f2bde10e" providerId="LiveId" clId="{8681B0DB-A163-4EFC-BB72-306D3551ADB0}" dt="2025-12-08T13:21:26.778" v="740" actId="20577"/>
        <pc:sldMkLst>
          <pc:docMk/>
          <pc:sldMk cId="2893168930" sldId="257"/>
        </pc:sldMkLst>
        <pc:spChg chg="mod">
          <ac:chgData name="Shivam tyagi" userId="52d8ec56f2bde10e" providerId="LiveId" clId="{8681B0DB-A163-4EFC-BB72-306D3551ADB0}" dt="2025-12-08T13:21:26.778" v="740" actId="20577"/>
          <ac:spMkLst>
            <pc:docMk/>
            <pc:sldMk cId="2893168930" sldId="257"/>
            <ac:spMk id="3" creationId="{6F204025-8202-E8ED-5F1E-E89715BDB37C}"/>
          </ac:spMkLst>
        </pc:spChg>
      </pc:sldChg>
      <pc:sldChg chg="modSp mod">
        <pc:chgData name="Shivam tyagi" userId="52d8ec56f2bde10e" providerId="LiveId" clId="{8681B0DB-A163-4EFC-BB72-306D3551ADB0}" dt="2025-12-08T13:27:08.783" v="873" actId="20577"/>
        <pc:sldMkLst>
          <pc:docMk/>
          <pc:sldMk cId="1519531629" sldId="258"/>
        </pc:sldMkLst>
        <pc:spChg chg="mod">
          <ac:chgData name="Shivam tyagi" userId="52d8ec56f2bde10e" providerId="LiveId" clId="{8681B0DB-A163-4EFC-BB72-306D3551ADB0}" dt="2025-12-08T13:27:08.783" v="873" actId="20577"/>
          <ac:spMkLst>
            <pc:docMk/>
            <pc:sldMk cId="1519531629" sldId="258"/>
            <ac:spMk id="3" creationId="{54E25BE3-96B8-D718-2A00-30E7D47D9DCA}"/>
          </ac:spMkLst>
        </pc:spChg>
      </pc:sldChg>
      <pc:sldChg chg="modSp mod">
        <pc:chgData name="Shivam tyagi" userId="52d8ec56f2bde10e" providerId="LiveId" clId="{8681B0DB-A163-4EFC-BB72-306D3551ADB0}" dt="2025-12-08T13:23:23.272" v="791" actId="20577"/>
        <pc:sldMkLst>
          <pc:docMk/>
          <pc:sldMk cId="133276796" sldId="259"/>
        </pc:sldMkLst>
        <pc:spChg chg="mod">
          <ac:chgData name="Shivam tyagi" userId="52d8ec56f2bde10e" providerId="LiveId" clId="{8681B0DB-A163-4EFC-BB72-306D3551ADB0}" dt="2025-12-08T13:23:23.272" v="791" actId="20577"/>
          <ac:spMkLst>
            <pc:docMk/>
            <pc:sldMk cId="133276796" sldId="259"/>
            <ac:spMk id="3" creationId="{598633F9-4F1F-7605-D73D-DE7AB6A42EDE}"/>
          </ac:spMkLst>
        </pc:spChg>
      </pc:sldChg>
      <pc:sldChg chg="modSp mod">
        <pc:chgData name="Shivam tyagi" userId="52d8ec56f2bde10e" providerId="LiveId" clId="{8681B0DB-A163-4EFC-BB72-306D3551ADB0}" dt="2025-12-08T13:23:55.382" v="815" actId="20577"/>
        <pc:sldMkLst>
          <pc:docMk/>
          <pc:sldMk cId="238389315" sldId="260"/>
        </pc:sldMkLst>
        <pc:spChg chg="mod">
          <ac:chgData name="Shivam tyagi" userId="52d8ec56f2bde10e" providerId="LiveId" clId="{8681B0DB-A163-4EFC-BB72-306D3551ADB0}" dt="2025-12-08T13:23:55.382" v="815" actId="20577"/>
          <ac:spMkLst>
            <pc:docMk/>
            <pc:sldMk cId="238389315" sldId="260"/>
            <ac:spMk id="3" creationId="{C62780A9-6576-85A0-F8EC-DEFA2143C30E}"/>
          </ac:spMkLst>
        </pc:spChg>
      </pc:sldChg>
      <pc:sldChg chg="modSp mod">
        <pc:chgData name="Shivam tyagi" userId="52d8ec56f2bde10e" providerId="LiveId" clId="{8681B0DB-A163-4EFC-BB72-306D3551ADB0}" dt="2025-12-08T13:24:13.049" v="831" actId="20577"/>
        <pc:sldMkLst>
          <pc:docMk/>
          <pc:sldMk cId="3203744635" sldId="261"/>
        </pc:sldMkLst>
        <pc:spChg chg="mod">
          <ac:chgData name="Shivam tyagi" userId="52d8ec56f2bde10e" providerId="LiveId" clId="{8681B0DB-A163-4EFC-BB72-306D3551ADB0}" dt="2025-12-08T13:24:13.049" v="831" actId="20577"/>
          <ac:spMkLst>
            <pc:docMk/>
            <pc:sldMk cId="3203744635" sldId="261"/>
            <ac:spMk id="4" creationId="{7D49539A-0BB3-BA6A-9988-810704066B25}"/>
          </ac:spMkLst>
        </pc:spChg>
      </pc:sldChg>
      <pc:sldChg chg="modSp mod">
        <pc:chgData name="Shivam tyagi" userId="52d8ec56f2bde10e" providerId="LiveId" clId="{8681B0DB-A163-4EFC-BB72-306D3551ADB0}" dt="2025-12-08T13:24:31.585" v="848" actId="20577"/>
        <pc:sldMkLst>
          <pc:docMk/>
          <pc:sldMk cId="154673501" sldId="262"/>
        </pc:sldMkLst>
        <pc:spChg chg="mod">
          <ac:chgData name="Shivam tyagi" userId="52d8ec56f2bde10e" providerId="LiveId" clId="{8681B0DB-A163-4EFC-BB72-306D3551ADB0}" dt="2025-12-08T13:24:31.585" v="848" actId="20577"/>
          <ac:spMkLst>
            <pc:docMk/>
            <pc:sldMk cId="154673501" sldId="262"/>
            <ac:spMk id="3" creationId="{13AD213D-E0F5-E174-655D-D6091A10650A}"/>
          </ac:spMkLst>
        </pc:spChg>
      </pc:sldChg>
      <pc:sldChg chg="modSp mod">
        <pc:chgData name="Shivam tyagi" userId="52d8ec56f2bde10e" providerId="LiveId" clId="{8681B0DB-A163-4EFC-BB72-306D3551ADB0}" dt="2025-12-08T13:24:48.348" v="863" actId="20577"/>
        <pc:sldMkLst>
          <pc:docMk/>
          <pc:sldMk cId="3834815464" sldId="263"/>
        </pc:sldMkLst>
        <pc:spChg chg="mod">
          <ac:chgData name="Shivam tyagi" userId="52d8ec56f2bde10e" providerId="LiveId" clId="{8681B0DB-A163-4EFC-BB72-306D3551ADB0}" dt="2025-12-08T13:24:48.348" v="863" actId="20577"/>
          <ac:spMkLst>
            <pc:docMk/>
            <pc:sldMk cId="3834815464" sldId="263"/>
            <ac:spMk id="2" creationId="{7293E30A-D407-4DD2-111F-D205E4139D33}"/>
          </ac:spMkLst>
        </pc:spChg>
      </pc:sldChg>
      <pc:sldChg chg="ord">
        <pc:chgData name="Shivam tyagi" userId="52d8ec56f2bde10e" providerId="LiveId" clId="{8681B0DB-A163-4EFC-BB72-306D3551ADB0}" dt="2025-12-08T13:25:31.114" v="865"/>
        <pc:sldMkLst>
          <pc:docMk/>
          <pc:sldMk cId="3092095148" sldId="271"/>
        </pc:sldMkLst>
      </pc:sldChg>
      <pc:sldChg chg="modSp mod">
        <pc:chgData name="Shivam tyagi" userId="52d8ec56f2bde10e" providerId="LiveId" clId="{8681B0DB-A163-4EFC-BB72-306D3551ADB0}" dt="2025-12-08T13:26:38.459" v="872" actId="20577"/>
        <pc:sldMkLst>
          <pc:docMk/>
          <pc:sldMk cId="267493873" sldId="286"/>
        </pc:sldMkLst>
        <pc:spChg chg="mod">
          <ac:chgData name="Shivam tyagi" userId="52d8ec56f2bde10e" providerId="LiveId" clId="{8681B0DB-A163-4EFC-BB72-306D3551ADB0}" dt="2025-12-08T13:26:38.459" v="872" actId="20577"/>
          <ac:spMkLst>
            <pc:docMk/>
            <pc:sldMk cId="267493873" sldId="286"/>
            <ac:spMk id="2" creationId="{733BECF6-0CA7-B20F-3569-8C8944D748B2}"/>
          </ac:spMkLst>
        </pc:spChg>
        <pc:spChg chg="mod">
          <ac:chgData name="Shivam tyagi" userId="52d8ec56f2bde10e" providerId="LiveId" clId="{8681B0DB-A163-4EFC-BB72-306D3551ADB0}" dt="2025-12-08T13:26:20.863" v="866" actId="1076"/>
          <ac:spMkLst>
            <pc:docMk/>
            <pc:sldMk cId="267493873" sldId="286"/>
            <ac:spMk id="4" creationId="{E9937338-4E8C-356F-E692-C86EBC6F24F4}"/>
          </ac:spMkLst>
        </pc:spChg>
      </pc:sldChg>
      <pc:sldChg chg="modSp mod">
        <pc:chgData name="Shivam tyagi" userId="52d8ec56f2bde10e" providerId="LiveId" clId="{8681B0DB-A163-4EFC-BB72-306D3551ADB0}" dt="2025-12-08T13:22:13.504" v="755" actId="20577"/>
        <pc:sldMkLst>
          <pc:docMk/>
          <pc:sldMk cId="3289512173" sldId="292"/>
        </pc:sldMkLst>
        <pc:spChg chg="mod">
          <ac:chgData name="Shivam tyagi" userId="52d8ec56f2bde10e" providerId="LiveId" clId="{8681B0DB-A163-4EFC-BB72-306D3551ADB0}" dt="2025-12-08T13:22:13.504" v="755" actId="20577"/>
          <ac:spMkLst>
            <pc:docMk/>
            <pc:sldMk cId="3289512173" sldId="292"/>
            <ac:spMk id="8" creationId="{9DB600DF-97BB-2A42-CCB9-E954E3E562CD}"/>
          </ac:spMkLst>
        </pc:spChg>
      </pc:sldChg>
      <pc:sldChg chg="modSp mod">
        <pc:chgData name="Shivam tyagi" userId="52d8ec56f2bde10e" providerId="LiveId" clId="{8681B0DB-A163-4EFC-BB72-306D3551ADB0}" dt="2025-12-08T13:22:35.524" v="770" actId="20577"/>
        <pc:sldMkLst>
          <pc:docMk/>
          <pc:sldMk cId="1768489415" sldId="294"/>
        </pc:sldMkLst>
        <pc:graphicFrameChg chg="modGraphic">
          <ac:chgData name="Shivam tyagi" userId="52d8ec56f2bde10e" providerId="LiveId" clId="{8681B0DB-A163-4EFC-BB72-306D3551ADB0}" dt="2025-12-08T13:22:35.524" v="770" actId="20577"/>
          <ac:graphicFrameMkLst>
            <pc:docMk/>
            <pc:sldMk cId="1768489415" sldId="294"/>
            <ac:graphicFrameMk id="12" creationId="{9E1986D0-9766-3B4B-5EFE-9D1F2786CC9F}"/>
          </ac:graphicFrameMkLst>
        </pc:graphicFrameChg>
      </pc:sldChg>
      <pc:sldChg chg="modSp mod">
        <pc:chgData name="Shivam tyagi" userId="52d8ec56f2bde10e" providerId="LiveId" clId="{8681B0DB-A163-4EFC-BB72-306D3551ADB0}" dt="2025-12-08T13:23:06.799" v="772" actId="1076"/>
        <pc:sldMkLst>
          <pc:docMk/>
          <pc:sldMk cId="554113049" sldId="295"/>
        </pc:sldMkLst>
        <pc:picChg chg="mod">
          <ac:chgData name="Shivam tyagi" userId="52d8ec56f2bde10e" providerId="LiveId" clId="{8681B0DB-A163-4EFC-BB72-306D3551ADB0}" dt="2025-12-08T13:23:06.799" v="772" actId="1076"/>
          <ac:picMkLst>
            <pc:docMk/>
            <pc:sldMk cId="554113049" sldId="295"/>
            <ac:picMk id="10" creationId="{DE250A58-ADB7-409F-E7D8-03017DB7537A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459234-2162-45F4-A3D5-3CD69A9C53B3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CDE869-48FD-4497-B219-767A7065AB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40991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CDE869-48FD-4497-B219-767A7065AB5A}" type="slidenum">
              <a:rPr lang="en-IN" smtClean="0"/>
              <a:t>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71265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CDE869-48FD-4497-B219-767A7065AB5A}" type="slidenum">
              <a:rPr lang="en-IN" smtClean="0"/>
              <a:t>28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89532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89D87B-4D19-8D7A-F248-B970FD2603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921222-7155-2C41-3C0F-68996EB8F7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6C6855-B521-0EA7-C156-2D7BB732D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F0F56-AC31-4501-B1E5-6CFFBA882D62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9A238A-1A72-D0E2-3DD9-8403A476A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A8CCF7-B403-2AB1-332B-5D9D6619C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46B69-0FBD-4690-B9F6-7392D4516B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20509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2B55A-C325-DF0B-A453-903322702F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693E45-8388-1261-35B3-180017E969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86E710-6473-69F5-26B3-FAC7A3449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F0F56-AC31-4501-B1E5-6CFFBA882D62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042262-9D1B-A45F-B279-CE577526B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80A82F-F048-8F76-529C-292FA149D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46B69-0FBD-4690-B9F6-7392D4516B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2733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1997C7-7EFC-BF4E-4492-E0ED9B8947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E4F176-1E53-F9B2-0C6F-80842CADE3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89E1A7-2BB7-00CE-84A6-5A80FB5520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F0F56-AC31-4501-B1E5-6CFFBA882D62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215AB2-452D-E5A9-1CCE-E51AB2A6F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20B99C-1740-3846-28FE-0978D05C3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46B69-0FBD-4690-B9F6-7392D4516B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24176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4D010-9951-3991-8455-96709E3E9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9CFC02-FE61-0CF0-DB2A-1EF6647D7E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A29528-8ED0-2774-0FBD-13778B8658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C51FFC-DE8A-4C1C-A544-2C0119E47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F0F56-AC31-4501-B1E5-6CFFBA882D62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DFDD1-4254-0817-6329-A6C67B29E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2A4756-B56D-AD58-D1D6-AFFE97BC5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46B69-0FBD-4690-B9F6-7392D4516B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52849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FA3B9-CF1B-F203-21FE-1D9D182A0B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3F2A09-BF3A-2B12-C7FA-A0BD44FE20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390FD8-B74C-4D59-2FAB-B0EAA22BB8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1CEC98-B7B7-B37B-4C9C-531ACBE795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8649A3-5410-189B-0F7C-225BCA55C0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F64507F-749D-8216-395F-90E34E9D6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F0F56-AC31-4501-B1E5-6CFFBA882D62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9A85BC5-A7D8-2944-9E72-C22BB0732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E8EB40C-3396-1FAA-3DF5-A67BC4D1B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46B69-0FBD-4690-B9F6-7392D4516B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28782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5E216D-220C-BF1E-0CFB-6320E0DCA0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63C99F-A790-763E-EB3C-75573A8A1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F0F56-AC31-4501-B1E5-6CFFBA882D62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F51437-C1EB-0685-33AE-C9AC776DEB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F89C82-12B2-27A2-EC6D-0DE6AEF4B5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46B69-0FBD-4690-B9F6-7392D4516B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72413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297081-A53C-D469-5A8E-127EC6710E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F0F56-AC31-4501-B1E5-6CFFBA882D62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B0F843-F5B8-758F-CBEE-D5BE1766FF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5B01B5-664B-560A-7D40-9A7F9278D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46B69-0FBD-4690-B9F6-7392D4516B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83315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9ABC9-7CB4-AD8E-C2DC-4AE4B1A00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33C07C-6935-6CE4-899B-B5111A7B2B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B66204-B6A8-F34B-0E8D-8140CF3B21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31E2DA-2371-F85B-4E91-754795DC3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F0F56-AC31-4501-B1E5-6CFFBA882D62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EF04B2-4C28-809A-04A4-D10284BD5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860A8E-EE98-6DBD-DDBB-E79394AF4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46B69-0FBD-4690-B9F6-7392D4516B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57190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124F2C-06F7-3536-4DD2-D201B08D2F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61EE4A0-B9D1-F161-9C95-3774BEFF5C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DAF3E3-D3DB-A349-CDDA-8764DD640F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19381C-2AC7-C4EA-E767-306BAE00C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F0F56-AC31-4501-B1E5-6CFFBA882D62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640301-5225-3F8C-FBF7-1BB0A3500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5D1F07-348C-E674-E2C9-CE9889EC7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46B69-0FBD-4690-B9F6-7392D4516B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64564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5E88F6-8559-B131-FF01-E64EBF286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B3DFCF-0194-D790-19A2-3E61B70918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72E045-96C4-538D-B5A8-B05B4361F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F0F56-AC31-4501-B1E5-6CFFBA882D62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4B5FD7-562D-0AA3-D1E6-A3436BB00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F40549-2C90-9A30-3BE8-2A057B91E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46B69-0FBD-4690-B9F6-7392D4516B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65884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6A9425D-FCFF-D162-B982-DCA3024961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385779-EF88-DD17-E8A5-5F041BF215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E53510-EFC5-B858-E777-A9F26EA43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F0F56-AC31-4501-B1E5-6CFFBA882D62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ED75E2-0C68-F260-D667-8A2CC291C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71114D-C947-A5A2-83A9-03CD142CE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46B69-0FBD-4690-B9F6-7392D4516B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69402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30070EB-157F-00B3-C480-7D8A9A95B0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FD2903-7E5B-67A8-637E-9C60DCE8CA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688230-1C98-4E05-DF5D-B7CFC90FA5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2F0F56-AC31-4501-B1E5-6CFFBA882D62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9B5B06-740B-6B51-7B42-BD6FB18B26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1D7DD7-3D98-1E9D-DD1A-BB83504281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346B69-0FBD-4690-B9F6-7392D4516B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18782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q5HiD5PNuck?utm_source=chatgpt.com" TargetMode="External"/><Relationship Id="rId2" Type="http://schemas.openxmlformats.org/officeDocument/2006/relationships/hyperlink" Target="https://youtu.be/s_8b5iq4Rvk?utm_source=chatgpt.com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hyperlink" Target="https://youtu.be/HHBF5efMTPI?utm_source=chatgpt.com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q5HiD5PNuck?utm_source=chatgpt.com" TargetMode="External"/><Relationship Id="rId2" Type="http://schemas.openxmlformats.org/officeDocument/2006/relationships/hyperlink" Target="https://www.udemy.com/share/10clnH3@ud7su6RWx82qmHiEAXdF4o0PaOIOxuRorou4Gz6S1x5Mki27p9JZYqzcdXVI8beM2g==/?utm_source=chatgpt.com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5" Type="http://schemas.openxmlformats.org/officeDocument/2006/relationships/image" Target="../media/image6.png"/><Relationship Id="rId4" Type="http://schemas.openxmlformats.org/officeDocument/2006/relationships/hyperlink" Target="https://youtu.be/HHBF5efMTPI?utm_source=chatgpt.com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pypi.org/project/SpeechRecognition/?utm_source=chatgpt.com" TargetMode="External"/><Relationship Id="rId2" Type="http://schemas.openxmlformats.org/officeDocument/2006/relationships/hyperlink" Target="https://youtu.be/q5HiD5PNuck?utm_source=chatgpt.com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pypi.org/project/pywhatkit/?utm_source=chatgpt.com" TargetMode="External"/><Relationship Id="rId2" Type="http://schemas.openxmlformats.org/officeDocument/2006/relationships/hyperlink" Target="https://youtu.be/AWvsXxDtEkU?utm_source=chatgpt.com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youtu.be/kLVKZOwbjmk?utm_source=chatgpt.com" TargetMode="Externa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EXL8mMUXs88?utm_source=chatgpt.com" TargetMode="External"/><Relationship Id="rId2" Type="http://schemas.openxmlformats.org/officeDocument/2006/relationships/hyperlink" Target="https://youtu.be/PGaiZfjJZi0?utm_source=chatgpt.com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DkzbCJtFvqM?utm_source=chatgpt.com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youtu.be/0NFY9GA2KwU?utm_source=chatgpt.com" TargetMode="External"/><Relationship Id="rId4" Type="http://schemas.openxmlformats.org/officeDocument/2006/relationships/hyperlink" Target="https://youtu.be/kLVKZOwbjmk?utm_source=chatgpt.com" TargetMode="Externa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dgQKsgno2UY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hyperlink" Target="https://youtu.be/kCc8FmEb1nY" TargetMode="Externa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hyperlink" Target="https://youtu.be/EmKQsSDlaa4" TargetMode="Externa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hyperlink" Target="https://youtu.be/qW-6pk9YdTY" TargetMode="Externa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hyperlink" Target="https://youtu.be/EzzcEL_1o9o" TargetMode="Externa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4FDBD-43DD-58C2-248B-28D217854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834886"/>
          </a:xfrm>
        </p:spPr>
        <p:txBody>
          <a:bodyPr/>
          <a:lstStyle/>
          <a:p>
            <a:r>
              <a:rPr lang="en-US" b="1" u="sng" dirty="0">
                <a:solidFill>
                  <a:srgbClr val="002060"/>
                </a:solidFill>
                <a:latin typeface="Algerian" panose="04020705040A02060702" pitchFamily="82" charset="0"/>
              </a:rPr>
              <a:t>       Artery – Digital  human girl</a:t>
            </a:r>
            <a:endParaRPr lang="en-IN" dirty="0"/>
          </a:p>
        </p:txBody>
      </p:sp>
      <p:pic>
        <p:nvPicPr>
          <p:cNvPr id="5" name="Content Placeholder 4" descr="A person with a glowing body&#10;&#10;AI-generated content may be incorrect.">
            <a:extLst>
              <a:ext uri="{FF2B5EF4-FFF2-40B4-BE49-F238E27FC236}">
                <a16:creationId xmlns:a16="http://schemas.microsoft.com/office/drawing/2014/main" id="{BD72D8C8-6BD2-139C-2D39-38556A62D8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834887"/>
            <a:ext cx="12192000" cy="6023113"/>
          </a:xfrm>
        </p:spPr>
      </p:pic>
    </p:spTree>
    <p:extLst>
      <p:ext uri="{BB962C8B-B14F-4D97-AF65-F5344CB8AC3E}">
        <p14:creationId xmlns:p14="http://schemas.microsoft.com/office/powerpoint/2010/main" val="20133793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873B6-A822-2049-6CAA-9338FBFD0F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38538"/>
            <a:ext cx="12065000" cy="815562"/>
          </a:xfrm>
        </p:spPr>
        <p:txBody>
          <a:bodyPr>
            <a:normAutofit fontScale="90000"/>
          </a:bodyPr>
          <a:lstStyle/>
          <a:p>
            <a:r>
              <a:rPr lang="en-US" b="1" u="sng" dirty="0">
                <a:solidFill>
                  <a:srgbClr val="002060"/>
                </a:solidFill>
                <a:latin typeface="Algerian" panose="04020705040A02060702" pitchFamily="82" charset="0"/>
              </a:rPr>
              <a:t>Artery –  Digital Human girl</a:t>
            </a:r>
            <a:endParaRPr lang="en-IN" b="1" u="sng" dirty="0">
              <a:solidFill>
                <a:srgbClr val="00206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B47998-F0DB-F97C-0E71-1BFB540548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193799"/>
            <a:ext cx="9144000" cy="5425661"/>
          </a:xfrm>
        </p:spPr>
        <p:txBody>
          <a:bodyPr>
            <a:normAutofit fontScale="92500" lnSpcReduction="20000"/>
          </a:bodyPr>
          <a:lstStyle/>
          <a:p>
            <a:r>
              <a:rPr lang="en-US" sz="3000" b="1" dirty="0">
                <a:solidFill>
                  <a:srgbClr val="FF0000"/>
                </a:solidFill>
              </a:rPr>
              <a:t>Tagline:</a:t>
            </a:r>
            <a:br>
              <a:rPr lang="en-US" dirty="0"/>
            </a:br>
            <a:endParaRPr lang="en-US" dirty="0"/>
          </a:p>
          <a:p>
            <a:r>
              <a:rPr lang="en-US" sz="2600" u="sng" dirty="0">
                <a:latin typeface="Algerian" panose="04020705040A02060702" pitchFamily="82" charset="0"/>
              </a:rPr>
              <a:t>"More than an Assistant – A Digital Version of  human"</a:t>
            </a:r>
          </a:p>
          <a:p>
            <a:endParaRPr lang="en-US" b="1" dirty="0">
              <a:solidFill>
                <a:srgbClr val="FF0000"/>
              </a:solidFill>
            </a:endParaRPr>
          </a:p>
          <a:p>
            <a:r>
              <a:rPr lang="en-US" sz="4300" b="1" dirty="0">
                <a:solidFill>
                  <a:srgbClr val="FF0000"/>
                </a:solidFill>
              </a:rPr>
              <a:t>About Artery:</a:t>
            </a:r>
          </a:p>
          <a:p>
            <a:br>
              <a:rPr lang="en-US" dirty="0">
                <a:solidFill>
                  <a:srgbClr val="FF0000"/>
                </a:solidFill>
              </a:rPr>
            </a:br>
            <a:r>
              <a:rPr lang="en-US" sz="3000" dirty="0"/>
              <a:t>Artery is an </a:t>
            </a:r>
            <a:r>
              <a:rPr lang="en-US" sz="3000" b="1" dirty="0"/>
              <a:t>AI-powered OS</a:t>
            </a:r>
            <a:r>
              <a:rPr lang="en-US" sz="3000" dirty="0"/>
              <a:t> designed to understand your </a:t>
            </a:r>
            <a:r>
              <a:rPr lang="en-US" sz="3000" b="1" dirty="0"/>
              <a:t>emotions, voice, and behavior</a:t>
            </a:r>
            <a:r>
              <a:rPr lang="en-US" sz="3000" dirty="0"/>
              <a:t>, while assisting in tasks across </a:t>
            </a:r>
            <a:r>
              <a:rPr lang="en-US" sz="3000" b="1" dirty="0"/>
              <a:t>system, security, automation, and cloud integration</a:t>
            </a:r>
            <a:r>
              <a:rPr lang="en-US" sz="3000" dirty="0"/>
              <a:t>.</a:t>
            </a:r>
            <a:br>
              <a:rPr lang="en-US" sz="3000" dirty="0"/>
            </a:br>
            <a:r>
              <a:rPr lang="en-US" sz="3000" dirty="0"/>
              <a:t>Just like arteries are vital in the human body, </a:t>
            </a:r>
            <a:r>
              <a:rPr lang="en-US" sz="3000" b="1" dirty="0"/>
              <a:t>Artery becomes the lifeline of My digital world</a:t>
            </a:r>
            <a:r>
              <a:rPr lang="en-US" sz="3000" dirty="0"/>
              <a:t>.</a:t>
            </a:r>
          </a:p>
          <a:p>
            <a:endParaRPr lang="en-US" b="1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r>
              <a:rPr lang="en-US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Birthday / Launch:</a:t>
            </a:r>
            <a:b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</a:br>
            <a:r>
              <a:rPr lang="en-IN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TBD </a:t>
            </a:r>
            <a:endParaRPr lang="en-US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endParaRPr lang="en-US" dirty="0"/>
          </a:p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ACC28A5-FAF7-5A50-E68E-BA09C50520B1}"/>
              </a:ext>
            </a:extLst>
          </p:cNvPr>
          <p:cNvSpPr/>
          <p:nvPr/>
        </p:nvSpPr>
        <p:spPr>
          <a:xfrm>
            <a:off x="4621696" y="5664201"/>
            <a:ext cx="3110947" cy="66039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33840FF-F52E-0759-BFB7-337CD2B0514F}"/>
              </a:ext>
            </a:extLst>
          </p:cNvPr>
          <p:cNvSpPr/>
          <p:nvPr/>
        </p:nvSpPr>
        <p:spPr>
          <a:xfrm>
            <a:off x="934278" y="1193799"/>
            <a:ext cx="10426148" cy="124128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22667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103EF7-8040-C345-88EF-38960BF337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002060"/>
                </a:solidFill>
                <a:latin typeface="Algerian" panose="04020705040A02060702" pitchFamily="82" charset="0"/>
              </a:rPr>
              <a:t>                  Features (Summary)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CF0F97-FC27-C84F-DB9F-B63C393881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1374" y="1835565"/>
            <a:ext cx="7904922" cy="4351338"/>
          </a:xfrm>
        </p:spPr>
        <p:txBody>
          <a:bodyPr/>
          <a:lstStyle/>
          <a:p>
            <a:r>
              <a:rPr lang="en-IN" dirty="0"/>
              <a:t>Human-like Chatbot + Voice Assistant.</a:t>
            </a:r>
          </a:p>
          <a:p>
            <a:r>
              <a:rPr lang="en-IN" dirty="0"/>
              <a:t>Emotion detection via face, voice, text.</a:t>
            </a:r>
          </a:p>
          <a:p>
            <a:r>
              <a:rPr lang="en-IN" dirty="0"/>
              <a:t>Vision: face + object recognition.</a:t>
            </a:r>
          </a:p>
          <a:p>
            <a:r>
              <a:rPr lang="en-IN" dirty="0"/>
              <a:t>2D/3D avatar interface.</a:t>
            </a:r>
          </a:p>
          <a:p>
            <a:r>
              <a:rPr lang="en-IN" dirty="0"/>
              <a:t>Security monitoring for PC + phone.</a:t>
            </a:r>
          </a:p>
          <a:p>
            <a:r>
              <a:rPr lang="en-IN" dirty="0"/>
              <a:t>Personal assistant (calls, SMS, calendar).</a:t>
            </a:r>
          </a:p>
          <a:p>
            <a:r>
              <a:rPr lang="en-IN" dirty="0"/>
              <a:t>Self-learning AI.</a:t>
            </a:r>
          </a:p>
          <a:p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5F099E2-47DF-4AE7-ECF3-513397808354}"/>
              </a:ext>
            </a:extLst>
          </p:cNvPr>
          <p:cNvSpPr/>
          <p:nvPr/>
        </p:nvSpPr>
        <p:spPr>
          <a:xfrm>
            <a:off x="2607365" y="1690688"/>
            <a:ext cx="7351644" cy="381559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224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B5E69-E580-412D-8AF3-B462920FB3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2047"/>
            <a:ext cx="10515600" cy="861683"/>
          </a:xfrm>
        </p:spPr>
        <p:txBody>
          <a:bodyPr/>
          <a:lstStyle/>
          <a:p>
            <a:r>
              <a:rPr lang="en-IN" b="1" dirty="0">
                <a:solidFill>
                  <a:srgbClr val="002060"/>
                </a:solidFill>
              </a:rPr>
              <a:t>                   </a:t>
            </a:r>
            <a:r>
              <a:rPr lang="en-IN" b="1" dirty="0">
                <a:solidFill>
                  <a:schemeClr val="tx2"/>
                </a:solidFill>
                <a:latin typeface="Algerian" panose="04020705040A02060702" pitchFamily="82" charset="0"/>
              </a:rPr>
              <a:t>Core Features of Artery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204025-8202-E8ED-5F1E-E89715BDB3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4528"/>
            <a:ext cx="4738635" cy="5168347"/>
          </a:xfrm>
        </p:spPr>
        <p:txBody>
          <a:bodyPr>
            <a:normAutofit fontScale="70000" lnSpcReduction="20000"/>
          </a:bodyPr>
          <a:lstStyle/>
          <a:p>
            <a:r>
              <a:rPr lang="en-IN" dirty="0"/>
              <a:t>Artery comes with </a:t>
            </a:r>
            <a:r>
              <a:rPr lang="en-IN" b="1" dirty="0"/>
              <a:t>multi-layered features</a:t>
            </a:r>
            <a:r>
              <a:rPr lang="en-IN" dirty="0"/>
              <a:t> that make Unbeatable Ai powered OS :</a:t>
            </a:r>
          </a:p>
          <a:p>
            <a:r>
              <a:rPr lang="en-IN" b="1" dirty="0"/>
              <a:t>Chatbot Intelligence</a:t>
            </a:r>
            <a:r>
              <a:rPr lang="en-IN" dirty="0"/>
              <a:t> – Responds like a human (text + voice)</a:t>
            </a:r>
          </a:p>
          <a:p>
            <a:r>
              <a:rPr lang="en-IN" b="1" dirty="0"/>
              <a:t>Voice Assistant</a:t>
            </a:r>
            <a:r>
              <a:rPr lang="en-IN" dirty="0"/>
              <a:t> – Execute tasks, calls, messages via speech commands</a:t>
            </a:r>
          </a:p>
          <a:p>
            <a:r>
              <a:rPr lang="en-IN" b="1" dirty="0"/>
              <a:t>2D/3D Avatar</a:t>
            </a:r>
            <a:r>
              <a:rPr lang="en-IN" dirty="0"/>
              <a:t> – Visual representation, future upgrade → hologram</a:t>
            </a:r>
          </a:p>
          <a:p>
            <a:r>
              <a:rPr lang="en-IN" b="1" dirty="0"/>
              <a:t>Emotion Detection</a:t>
            </a:r>
            <a:r>
              <a:rPr lang="en-IN" dirty="0"/>
              <a:t> – Understands feelings via voice, face &amp; tone</a:t>
            </a:r>
          </a:p>
          <a:p>
            <a:r>
              <a:rPr lang="en-IN" b="1" dirty="0"/>
              <a:t>Vision Module</a:t>
            </a:r>
            <a:r>
              <a:rPr lang="en-IN" dirty="0"/>
              <a:t> – Recognizes user &amp; environment via camera (OpenCV)</a:t>
            </a:r>
          </a:p>
          <a:p>
            <a:r>
              <a:rPr lang="en-IN" b="1" dirty="0"/>
              <a:t>Task Scheduling</a:t>
            </a:r>
            <a:r>
              <a:rPr lang="en-IN" dirty="0"/>
              <a:t> – Manage calendar, reminders, alarms, automation</a:t>
            </a:r>
          </a:p>
          <a:p>
            <a:r>
              <a:rPr lang="en-IN" b="1" dirty="0"/>
              <a:t>Security &amp; Device Manager</a:t>
            </a:r>
            <a:r>
              <a:rPr lang="en-IN" dirty="0"/>
              <a:t> – Detects malware, system threats &amp; phone risks</a:t>
            </a:r>
          </a:p>
          <a:p>
            <a:r>
              <a:rPr lang="en-IN" b="1" dirty="0"/>
              <a:t>Self-Learning</a:t>
            </a:r>
            <a:r>
              <a:rPr lang="en-IN" dirty="0"/>
              <a:t> – Adapts over time (like human </a:t>
            </a:r>
            <a:r>
              <a:rPr lang="en-IN" dirty="0" err="1"/>
              <a:t>behavior</a:t>
            </a:r>
            <a:r>
              <a:rPr lang="en-IN" dirty="0"/>
              <a:t> learning)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 descr="A chart of informational text">
            <a:extLst>
              <a:ext uri="{FF2B5EF4-FFF2-40B4-BE49-F238E27FC236}">
                <a16:creationId xmlns:a16="http://schemas.microsoft.com/office/drawing/2014/main" id="{65DA97A8-770D-AF28-29D1-AAE058D69B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6836" y="1152345"/>
            <a:ext cx="6499208" cy="5340529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C3ED06F-B0C3-49BB-AD5B-ACABA211A157}"/>
              </a:ext>
            </a:extLst>
          </p:cNvPr>
          <p:cNvSpPr/>
          <p:nvPr/>
        </p:nvSpPr>
        <p:spPr>
          <a:xfrm>
            <a:off x="725557" y="1152345"/>
            <a:ext cx="4851278" cy="554360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31689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F49E6B8-E9E4-64EB-521B-EBAD66C1C6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1601"/>
            <a:ext cx="12192000" cy="711200"/>
          </a:xfrm>
        </p:spPr>
        <p:txBody>
          <a:bodyPr>
            <a:normAutofit fontScale="90000"/>
          </a:bodyPr>
          <a:lstStyle/>
          <a:p>
            <a:r>
              <a:rPr lang="en-IN" b="1" dirty="0">
                <a:solidFill>
                  <a:srgbClr val="002060"/>
                </a:solidFill>
                <a:latin typeface="Algerian" panose="04020705040A02060702" pitchFamily="82" charset="0"/>
              </a:rPr>
              <a:t>Languages &amp; Technologies (Summary Table)</a:t>
            </a:r>
          </a:p>
        </p:txBody>
      </p:sp>
      <p:graphicFrame>
        <p:nvGraphicFramePr>
          <p:cNvPr id="12" name="Content Placeholder 11">
            <a:extLst>
              <a:ext uri="{FF2B5EF4-FFF2-40B4-BE49-F238E27FC236}">
                <a16:creationId xmlns:a16="http://schemas.microsoft.com/office/drawing/2014/main" id="{9E1986D0-9766-3B4B-5EFE-9D1F2786CC9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1109649"/>
              </p:ext>
            </p:extLst>
          </p:nvPr>
        </p:nvGraphicFramePr>
        <p:xfrm>
          <a:off x="443942" y="1083405"/>
          <a:ext cx="11493500" cy="5257805"/>
        </p:xfrm>
        <a:graphic>
          <a:graphicData uri="http://schemas.openxmlformats.org/drawingml/2006/table">
            <a:tbl>
              <a:tblPr/>
              <a:tblGrid>
                <a:gridCol w="2873375">
                  <a:extLst>
                    <a:ext uri="{9D8B030D-6E8A-4147-A177-3AD203B41FA5}">
                      <a16:colId xmlns:a16="http://schemas.microsoft.com/office/drawing/2014/main" val="3116496775"/>
                    </a:ext>
                  </a:extLst>
                </a:gridCol>
                <a:gridCol w="2601162">
                  <a:extLst>
                    <a:ext uri="{9D8B030D-6E8A-4147-A177-3AD203B41FA5}">
                      <a16:colId xmlns:a16="http://schemas.microsoft.com/office/drawing/2014/main" val="2861588943"/>
                    </a:ext>
                  </a:extLst>
                </a:gridCol>
                <a:gridCol w="3145588">
                  <a:extLst>
                    <a:ext uri="{9D8B030D-6E8A-4147-A177-3AD203B41FA5}">
                      <a16:colId xmlns:a16="http://schemas.microsoft.com/office/drawing/2014/main" val="2248594783"/>
                    </a:ext>
                  </a:extLst>
                </a:gridCol>
                <a:gridCol w="2873375">
                  <a:extLst>
                    <a:ext uri="{9D8B030D-6E8A-4147-A177-3AD203B41FA5}">
                      <a16:colId xmlns:a16="http://schemas.microsoft.com/office/drawing/2014/main" val="4213711825"/>
                    </a:ext>
                  </a:extLst>
                </a:gridCol>
              </a:tblGrid>
              <a:tr h="3823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solidFill>
                            <a:srgbClr val="FF0000"/>
                          </a:solidFill>
                          <a:latin typeface="Algerian" panose="04020705040A02060702" pitchFamily="82" charset="0"/>
                        </a:rPr>
                        <a:t>Module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solidFill>
                            <a:srgbClr val="FF0000"/>
                          </a:solidFill>
                          <a:latin typeface="Algerian" panose="04020705040A02060702" pitchFamily="82" charset="0"/>
                        </a:rPr>
                        <a:t>Language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 dirty="0" err="1">
                          <a:solidFill>
                            <a:srgbClr val="FF0000"/>
                          </a:solidFill>
                          <a:latin typeface="Algerian" panose="04020705040A02060702" pitchFamily="82" charset="0"/>
                        </a:rPr>
                        <a:t>TEchnology</a:t>
                      </a:r>
                      <a:r>
                        <a:rPr lang="en-IN" b="1" dirty="0">
                          <a:solidFill>
                            <a:srgbClr val="FF0000"/>
                          </a:solidFill>
                          <a:latin typeface="Algerian" panose="04020705040A02060702" pitchFamily="82" charset="0"/>
                        </a:rPr>
                        <a:t>/Library/API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solidFill>
                            <a:srgbClr val="FF0000"/>
                          </a:solidFill>
                          <a:latin typeface="Algerian" panose="04020705040A02060702" pitchFamily="82" charset="0"/>
                        </a:rPr>
                        <a:t>Purpose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0432367"/>
                  </a:ext>
                </a:extLst>
              </a:tr>
              <a:tr h="6691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</a:t>
                      </a:r>
                      <a:r>
                        <a:rPr lang="en-IN" dirty="0" err="1"/>
                        <a:t>esponse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Python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Transformers, OpenAI API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Text Conversation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4039590"/>
                  </a:ext>
                </a:extLst>
              </a:tr>
              <a:tr h="6691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Voice Assistant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Python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SpeechRecognition, Pyttsx3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Voice Input/Output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6960319"/>
                  </a:ext>
                </a:extLst>
              </a:tr>
              <a:tr h="6691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Emotion Detection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Python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OpenCV, librosa, transformers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Detect Emotions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4932413"/>
                  </a:ext>
                </a:extLst>
              </a:tr>
              <a:tr h="3823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Vision System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Python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OpenCV, YOLO, PyTorch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Face/Object Recognition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8159"/>
                  </a:ext>
                </a:extLst>
              </a:tr>
              <a:tr h="6691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2D/3D Avatar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Python / C#/C++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Tkinter/Pygame, Unity, Blender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Avatar &amp; Hologram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2946722"/>
                  </a:ext>
                </a:extLst>
              </a:tr>
              <a:tr h="3823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Personal Assistant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Python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Twilio, Google API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Calls, SMS, Scheduling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1039583"/>
                  </a:ext>
                </a:extLst>
              </a:tr>
              <a:tr h="3823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Security Monitoring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Python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psutil, antivirus APIs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System &amp; Security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4645178"/>
                  </a:ext>
                </a:extLst>
              </a:tr>
              <a:tr h="3823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Self-Learning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Python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Scikit-learn, TensorFlow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Adaptive AI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2783735"/>
                  </a:ext>
                </a:extLst>
              </a:tr>
              <a:tr h="6691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Cloud Integration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Python + Cloud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AWS, Azure, HuggingFace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Heavy Model Support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1169097"/>
                  </a:ext>
                </a:extLst>
              </a:tr>
            </a:tbl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43BEF187-6156-9AC3-7589-5638DA2398E2}"/>
              </a:ext>
            </a:extLst>
          </p:cNvPr>
          <p:cNvSpPr/>
          <p:nvPr/>
        </p:nvSpPr>
        <p:spPr>
          <a:xfrm>
            <a:off x="0" y="821734"/>
            <a:ext cx="11937442" cy="572867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F515FF9-68B7-099B-E768-04DC39C7274A}"/>
              </a:ext>
            </a:extLst>
          </p:cNvPr>
          <p:cNvCxnSpPr>
            <a:cxnSpLocks/>
          </p:cNvCxnSpPr>
          <p:nvPr/>
        </p:nvCxnSpPr>
        <p:spPr>
          <a:xfrm>
            <a:off x="2652765" y="812801"/>
            <a:ext cx="0" cy="579901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7138CE1-D649-4C19-67F3-754EED87C77B}"/>
              </a:ext>
            </a:extLst>
          </p:cNvPr>
          <p:cNvCxnSpPr/>
          <p:nvPr/>
        </p:nvCxnSpPr>
        <p:spPr>
          <a:xfrm>
            <a:off x="5174901" y="1034980"/>
            <a:ext cx="0" cy="14067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1A55994-2909-2003-DF82-A0D20D2442B2}"/>
              </a:ext>
            </a:extLst>
          </p:cNvPr>
          <p:cNvCxnSpPr>
            <a:cxnSpLocks/>
          </p:cNvCxnSpPr>
          <p:nvPr/>
        </p:nvCxnSpPr>
        <p:spPr>
          <a:xfrm flipH="1">
            <a:off x="5325626" y="812801"/>
            <a:ext cx="70339" cy="579901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5A4BFCF-BDEC-ACE9-064E-16FED99EAC4A}"/>
              </a:ext>
            </a:extLst>
          </p:cNvPr>
          <p:cNvCxnSpPr/>
          <p:nvPr/>
        </p:nvCxnSpPr>
        <p:spPr>
          <a:xfrm>
            <a:off x="9063613" y="812801"/>
            <a:ext cx="100484" cy="572867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4F1D8C9-61C3-DD36-69A7-0D97BE5EEB3B}"/>
              </a:ext>
            </a:extLst>
          </p:cNvPr>
          <p:cNvCxnSpPr>
            <a:cxnSpLocks/>
          </p:cNvCxnSpPr>
          <p:nvPr/>
        </p:nvCxnSpPr>
        <p:spPr>
          <a:xfrm flipH="1">
            <a:off x="151632" y="1537398"/>
            <a:ext cx="1207811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84894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203D6E1-DBD5-8BA0-781B-A508B34C3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1"/>
            <a:ext cx="10720388" cy="823912"/>
          </a:xfrm>
        </p:spPr>
        <p:txBody>
          <a:bodyPr>
            <a:normAutofit/>
          </a:bodyPr>
          <a:lstStyle/>
          <a:p>
            <a:pPr algn="ctr"/>
            <a:r>
              <a:rPr lang="en-IN" b="1" dirty="0">
                <a:solidFill>
                  <a:srgbClr val="002060"/>
                </a:solidFill>
                <a:latin typeface="Algerian" panose="04020705040A02060702" pitchFamily="82" charset="0"/>
              </a:rPr>
              <a:t>Modules &amp; Their Technologies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DB600DF-97BB-2A42-CCB9-E954E3E562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0485" y="827881"/>
            <a:ext cx="5157787" cy="446087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rgbClr val="FF0000"/>
                </a:solidFill>
                <a:latin typeface="Algerian" panose="04020705040A02060702" pitchFamily="82" charset="0"/>
              </a:rPr>
              <a:t>Response (like ChatGPT)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4C8E344-7B8D-AD2B-5719-51CFFA6AF5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823913"/>
            <a:ext cx="5918200" cy="668336"/>
          </a:xfrm>
        </p:spPr>
        <p:txBody>
          <a:bodyPr>
            <a:noAutofit/>
          </a:bodyPr>
          <a:lstStyle/>
          <a:p>
            <a:pPr algn="ctr"/>
            <a:r>
              <a:rPr lang="en-IN" dirty="0"/>
              <a:t> </a:t>
            </a:r>
            <a:r>
              <a:rPr lang="en-IN" dirty="0">
                <a:solidFill>
                  <a:srgbClr val="FF0000"/>
                </a:solidFill>
                <a:latin typeface="Algerian" panose="04020705040A02060702" pitchFamily="82" charset="0"/>
              </a:rPr>
              <a:t>Emotion Detection (via Face, Voice, Text</a:t>
            </a:r>
            <a:r>
              <a:rPr lang="en-IN" dirty="0"/>
              <a:t>)</a:t>
            </a:r>
          </a:p>
        </p:txBody>
      </p:sp>
      <p:sp>
        <p:nvSpPr>
          <p:cNvPr id="15" name="Rectangle 4">
            <a:extLst>
              <a:ext uri="{FF2B5EF4-FFF2-40B4-BE49-F238E27FC236}">
                <a16:creationId xmlns:a16="http://schemas.microsoft.com/office/drawing/2014/main" id="{DC7FA1FE-14F9-E9CD-0F49-3B4B5038573B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580486" y="1338448"/>
            <a:ext cx="5237704" cy="44001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Language/Tech: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Python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Libraries: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Transformers 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HuggingFace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), NLTK, Spacy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API: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OpenAI API /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LLaMA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/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HuggingFace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Role: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Natural text conversation (Q&amp;A, tasks, general chat).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IN" sz="2400" b="1" dirty="0">
                <a:solidFill>
                  <a:srgbClr val="FF0000"/>
                </a:solidFill>
                <a:latin typeface="Algerian" panose="04020705040A02060702" pitchFamily="82" charset="0"/>
              </a:rPr>
              <a:t>Voice Assistant (STT + TTS)</a:t>
            </a:r>
          </a:p>
          <a:p>
            <a:r>
              <a:rPr lang="en-IN" sz="1800" b="1" dirty="0"/>
              <a:t>Language/Tech:</a:t>
            </a:r>
            <a:r>
              <a:rPr lang="en-IN" sz="1800" dirty="0"/>
              <a:t> Python</a:t>
            </a:r>
          </a:p>
          <a:p>
            <a:r>
              <a:rPr lang="en-IN" sz="1800" b="1" dirty="0"/>
              <a:t>Libraries/APIs:</a:t>
            </a:r>
            <a:r>
              <a:rPr lang="en-IN" sz="1800" dirty="0"/>
              <a:t> </a:t>
            </a:r>
            <a:r>
              <a:rPr lang="en-IN" sz="1800" dirty="0" err="1"/>
              <a:t>SpeechRecognition</a:t>
            </a:r>
            <a:r>
              <a:rPr lang="en-IN" sz="1800" dirty="0"/>
              <a:t>, Pyttsx3, </a:t>
            </a:r>
            <a:r>
              <a:rPr lang="en-IN" sz="1800" dirty="0" err="1"/>
              <a:t>Vosk</a:t>
            </a:r>
            <a:r>
              <a:rPr lang="en-IN" sz="1800" dirty="0"/>
              <a:t> / Google Speech-to-Text, </a:t>
            </a:r>
            <a:r>
              <a:rPr lang="en-IN" sz="1800" dirty="0" err="1"/>
              <a:t>ElevenLabs</a:t>
            </a:r>
            <a:r>
              <a:rPr lang="en-IN" sz="1800" dirty="0"/>
              <a:t> TTS</a:t>
            </a:r>
          </a:p>
          <a:p>
            <a:r>
              <a:rPr lang="en-IN" sz="1800" b="1" dirty="0"/>
              <a:t>Role:</a:t>
            </a:r>
            <a:r>
              <a:rPr lang="en-IN" sz="1800" dirty="0"/>
              <a:t> Convert speech ↔ text, respond in voice like a human.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F80EBFC6-29A1-E102-82E3-1B032355EF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73812" y="1492249"/>
            <a:ext cx="5183188" cy="4314825"/>
          </a:xfrm>
        </p:spPr>
        <p:txBody>
          <a:bodyPr>
            <a:normAutofit fontScale="92500" lnSpcReduction="10000"/>
          </a:bodyPr>
          <a:lstStyle/>
          <a:p>
            <a:r>
              <a:rPr lang="en-IN" sz="1800" b="1" dirty="0"/>
              <a:t>Language/Tech:</a:t>
            </a:r>
            <a:r>
              <a:rPr lang="en-IN" sz="1800" dirty="0"/>
              <a:t> Python</a:t>
            </a:r>
          </a:p>
          <a:p>
            <a:r>
              <a:rPr lang="en-IN" sz="1800" b="1" dirty="0"/>
              <a:t>Libraries:</a:t>
            </a:r>
            <a:r>
              <a:rPr lang="en-IN" sz="1800" dirty="0"/>
              <a:t> OpenCV (face emotion), </a:t>
            </a:r>
            <a:r>
              <a:rPr lang="en-IN" sz="1800" dirty="0" err="1"/>
              <a:t>librosa</a:t>
            </a:r>
            <a:r>
              <a:rPr lang="en-IN" sz="1800" dirty="0"/>
              <a:t> (voice emotion), transformers (text sentiment)</a:t>
            </a:r>
          </a:p>
          <a:p>
            <a:r>
              <a:rPr lang="en-IN" sz="1800" b="1" dirty="0"/>
              <a:t>Models:</a:t>
            </a:r>
            <a:r>
              <a:rPr lang="en-IN" sz="1800" dirty="0"/>
              <a:t> FER2013 for face emotions, Speech Emotion Recognition models.</a:t>
            </a:r>
          </a:p>
          <a:p>
            <a:r>
              <a:rPr lang="en-IN" sz="1800" b="1" dirty="0"/>
              <a:t>Role:</a:t>
            </a:r>
            <a:r>
              <a:rPr lang="en-IN" sz="1800" dirty="0"/>
              <a:t> Capture user’s emotions and respond empathetically.</a:t>
            </a:r>
          </a:p>
          <a:p>
            <a:pPr marL="0" indent="0" algn="ctr">
              <a:buNone/>
            </a:pPr>
            <a:r>
              <a:rPr lang="en-IN" sz="2600" b="1" dirty="0">
                <a:solidFill>
                  <a:srgbClr val="FF0000"/>
                </a:solidFill>
                <a:latin typeface="Algerian" panose="04020705040A02060702" pitchFamily="82" charset="0"/>
              </a:rPr>
              <a:t>Vision System (Face + Object Recognition)</a:t>
            </a:r>
          </a:p>
          <a:p>
            <a:r>
              <a:rPr lang="en-IN" sz="2100" b="1" dirty="0"/>
              <a:t>Language/Tech:</a:t>
            </a:r>
            <a:r>
              <a:rPr lang="en-IN" sz="2100" dirty="0"/>
              <a:t> Python + Deep Learning</a:t>
            </a:r>
          </a:p>
          <a:p>
            <a:r>
              <a:rPr lang="en-IN" sz="2100" b="1" dirty="0"/>
              <a:t>Libraries:</a:t>
            </a:r>
            <a:r>
              <a:rPr lang="en-IN" sz="2100" dirty="0"/>
              <a:t> OpenCV, TensorFlow/</a:t>
            </a:r>
            <a:r>
              <a:rPr lang="en-IN" sz="2100" dirty="0" err="1"/>
              <a:t>PyTorch</a:t>
            </a:r>
            <a:r>
              <a:rPr lang="en-IN" sz="2100" dirty="0"/>
              <a:t>, YOLOv8</a:t>
            </a:r>
          </a:p>
          <a:p>
            <a:r>
              <a:rPr lang="en-IN" sz="2100" b="1" dirty="0"/>
              <a:t>Role:</a:t>
            </a:r>
            <a:r>
              <a:rPr lang="en-IN" sz="2100" dirty="0"/>
              <a:t> Recognize users, objects, and environment through camera.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0643F81-FAC2-3FA2-1D07-CE7296F2AC70}"/>
              </a:ext>
            </a:extLst>
          </p:cNvPr>
          <p:cNvSpPr/>
          <p:nvPr/>
        </p:nvSpPr>
        <p:spPr>
          <a:xfrm>
            <a:off x="422031" y="823913"/>
            <a:ext cx="5396158" cy="234131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8AC42E3-2B5A-5E9D-0C2A-2ED3CA789026}"/>
              </a:ext>
            </a:extLst>
          </p:cNvPr>
          <p:cNvSpPr/>
          <p:nvPr/>
        </p:nvSpPr>
        <p:spPr>
          <a:xfrm>
            <a:off x="422030" y="3356150"/>
            <a:ext cx="5496449" cy="226088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5BCC96C-7811-97D6-2755-7FEE4B1A6D5B}"/>
              </a:ext>
            </a:extLst>
          </p:cNvPr>
          <p:cNvSpPr/>
          <p:nvPr/>
        </p:nvSpPr>
        <p:spPr>
          <a:xfrm>
            <a:off x="6172200" y="703385"/>
            <a:ext cx="5815484" cy="265276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B34C67F-5913-A7AF-D9FD-29B2B94A552E}"/>
              </a:ext>
            </a:extLst>
          </p:cNvPr>
          <p:cNvSpPr/>
          <p:nvPr/>
        </p:nvSpPr>
        <p:spPr>
          <a:xfrm>
            <a:off x="6172200" y="3429000"/>
            <a:ext cx="5684855" cy="2499527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95121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C7E34-32C6-349A-517E-D43DF9D492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410" y="-54766"/>
            <a:ext cx="10515600" cy="823912"/>
          </a:xfrm>
        </p:spPr>
        <p:txBody>
          <a:bodyPr/>
          <a:lstStyle/>
          <a:p>
            <a:pPr algn="ctr"/>
            <a:r>
              <a:rPr lang="en-IN" b="1" dirty="0">
                <a:solidFill>
                  <a:srgbClr val="002060"/>
                </a:solidFill>
                <a:latin typeface="Algerian" panose="04020705040A02060702" pitchFamily="82" charset="0"/>
              </a:rPr>
              <a:t>Modules &amp; Their Technologies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67693E-535D-01C6-F5BE-C671A52ACD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3700" y="668337"/>
            <a:ext cx="5603875" cy="512763"/>
          </a:xfrm>
        </p:spPr>
        <p:txBody>
          <a:bodyPr/>
          <a:lstStyle/>
          <a:p>
            <a:pPr algn="ctr"/>
            <a:r>
              <a:rPr lang="en-IN" dirty="0">
                <a:solidFill>
                  <a:srgbClr val="FF0000"/>
                </a:solidFill>
                <a:latin typeface="Algerian" panose="04020705040A02060702" pitchFamily="82" charset="0"/>
              </a:rPr>
              <a:t>2D/3D Avatar &amp; Hologram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33E0E7-D14E-EE44-440F-A9FC6D269F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357190"/>
            <a:ext cx="5183188" cy="708686"/>
          </a:xfrm>
        </p:spPr>
        <p:txBody>
          <a:bodyPr/>
          <a:lstStyle/>
          <a:p>
            <a:pPr algn="ctr"/>
            <a:r>
              <a:rPr lang="en-IN" dirty="0">
                <a:solidFill>
                  <a:srgbClr val="FF0000"/>
                </a:solidFill>
                <a:latin typeface="Algerian" panose="04020705040A02060702" pitchFamily="82" charset="0"/>
              </a:rPr>
              <a:t>Security &amp; System Monitoring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743106B3-71BE-54E6-22AE-9E1CAD000CD4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0" y="1215313"/>
            <a:ext cx="5997575" cy="47325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Language/Tech: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2D: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Python 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Tkinter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/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Pygame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3D/Hologram: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Unity + Blender (C#) or Unreal Engine (C++)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Role: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Show a digital face/avatar of Artery that reacts in real-time.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IN" sz="2400" b="1" dirty="0">
                <a:solidFill>
                  <a:srgbClr val="FF0000"/>
                </a:solidFill>
                <a:latin typeface="Algerian" panose="04020705040A02060702" pitchFamily="82" charset="0"/>
              </a:rPr>
              <a:t>Personal Assistant (Calls, SMS, Scheduling)</a:t>
            </a:r>
          </a:p>
          <a:p>
            <a:r>
              <a:rPr lang="en-IN" sz="1800" b="1" dirty="0"/>
              <a:t>Language/Tech:</a:t>
            </a:r>
            <a:r>
              <a:rPr lang="en-IN" sz="1800" dirty="0"/>
              <a:t> Python</a:t>
            </a:r>
          </a:p>
          <a:p>
            <a:r>
              <a:rPr lang="en-IN" sz="1800" b="1" dirty="0"/>
              <a:t>Libraries/APIs:</a:t>
            </a:r>
            <a:r>
              <a:rPr lang="en-IN" sz="1800" dirty="0"/>
              <a:t> Twilio (SMS/Calls), Google Calendar API, WhatsApp API</a:t>
            </a:r>
          </a:p>
          <a:p>
            <a:r>
              <a:rPr lang="en-IN" sz="1800" b="1" dirty="0"/>
              <a:t>Role:</a:t>
            </a:r>
            <a:r>
              <a:rPr lang="en-IN" sz="1800" dirty="0"/>
              <a:t> Send/receive messages, reply to calls, schedule tasks.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8DFE8CB7-09B8-AED0-402D-4F4260845606}"/>
              </a:ext>
            </a:extLst>
          </p:cNvPr>
          <p:cNvSpPr>
            <a:spLocks noGrp="1" noChangeArrowheads="1"/>
          </p:cNvSpPr>
          <p:nvPr>
            <p:ph sz="quarter" idx="4"/>
          </p:nvPr>
        </p:nvSpPr>
        <p:spPr bwMode="auto">
          <a:xfrm>
            <a:off x="5997575" y="1132848"/>
            <a:ext cx="5800725" cy="5854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Language/Tech: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Python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Libraries: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psutil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(system stats),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yara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/ antivirus APIs (virus scan)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Role: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Monitor PC + phone health, detect viruses, warn user.</a:t>
            </a:r>
            <a:endParaRPr lang="en-US" altLang="en-US" sz="1800" dirty="0">
              <a:latin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IN" sz="2400" b="1" dirty="0">
                <a:solidFill>
                  <a:srgbClr val="FF0000"/>
                </a:solidFill>
                <a:latin typeface="Algerian" panose="04020705040A02060702" pitchFamily="82" charset="0"/>
              </a:rPr>
              <a:t>Self-Learning &amp; Adaptation</a:t>
            </a:r>
          </a:p>
          <a:p>
            <a:r>
              <a:rPr lang="en-IN" sz="1800" b="1" dirty="0"/>
              <a:t>Language/Tech:</a:t>
            </a:r>
            <a:r>
              <a:rPr lang="en-IN" sz="1800" dirty="0"/>
              <a:t> Python</a:t>
            </a:r>
          </a:p>
          <a:p>
            <a:r>
              <a:rPr lang="en-IN" sz="1800" b="1" dirty="0"/>
              <a:t>Libraries:</a:t>
            </a:r>
            <a:r>
              <a:rPr lang="en-IN" sz="1800" dirty="0"/>
              <a:t> Scikit-Learn, TensorFlow, </a:t>
            </a:r>
            <a:r>
              <a:rPr lang="en-IN" sz="1800" dirty="0" err="1"/>
              <a:t>PyTorch</a:t>
            </a:r>
            <a:endParaRPr lang="en-IN" sz="1800" dirty="0"/>
          </a:p>
          <a:p>
            <a:r>
              <a:rPr lang="en-IN" sz="1800" b="1" dirty="0"/>
              <a:t>Techniques:</a:t>
            </a:r>
            <a:r>
              <a:rPr lang="en-IN" sz="1800" dirty="0"/>
              <a:t> Reinforcement Learning, Preference Learning</a:t>
            </a:r>
          </a:p>
          <a:p>
            <a:r>
              <a:rPr lang="en-IN" sz="1800" b="1" dirty="0"/>
              <a:t>Role:</a:t>
            </a:r>
            <a:r>
              <a:rPr lang="en-IN" sz="1800" dirty="0"/>
              <a:t> Learn from your usage patterns and improve automatically.</a:t>
            </a:r>
          </a:p>
          <a:p>
            <a:pPr marL="0" indent="0" algn="ctr">
              <a:buNone/>
            </a:pPr>
            <a:r>
              <a:rPr lang="en-IN" sz="2000" b="1" dirty="0">
                <a:solidFill>
                  <a:srgbClr val="FF0000"/>
                </a:solidFill>
                <a:latin typeface="Algerian" panose="04020705040A02060702" pitchFamily="82" charset="0"/>
              </a:rPr>
              <a:t> Cloud Integration</a:t>
            </a:r>
          </a:p>
          <a:p>
            <a:r>
              <a:rPr lang="en-IN" sz="1800" b="1" dirty="0"/>
              <a:t>Platform:</a:t>
            </a:r>
            <a:r>
              <a:rPr lang="en-IN" sz="1800" dirty="0"/>
              <a:t> AWS, Google Cloud, Azure, </a:t>
            </a:r>
            <a:r>
              <a:rPr lang="en-IN" sz="1800" dirty="0" err="1"/>
              <a:t>HuggingFace</a:t>
            </a:r>
            <a:r>
              <a:rPr lang="en-IN" sz="1800" dirty="0"/>
              <a:t> Hub</a:t>
            </a:r>
          </a:p>
          <a:p>
            <a:r>
              <a:rPr lang="en-IN" sz="1800" b="1" dirty="0"/>
              <a:t>Role:</a:t>
            </a:r>
            <a:r>
              <a:rPr lang="en-IN" sz="1800" dirty="0"/>
              <a:t> Heavy AI models (GPT, Vision) run on cloud → results return to your system.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2456A43-0A6E-8C48-42EB-8F0766B30ECD}"/>
              </a:ext>
            </a:extLst>
          </p:cNvPr>
          <p:cNvSpPr/>
          <p:nvPr/>
        </p:nvSpPr>
        <p:spPr>
          <a:xfrm>
            <a:off x="0" y="668337"/>
            <a:ext cx="5800725" cy="230346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D0C8186-51AD-DAD8-3A74-88438237E434}"/>
              </a:ext>
            </a:extLst>
          </p:cNvPr>
          <p:cNvSpPr/>
          <p:nvPr/>
        </p:nvSpPr>
        <p:spPr>
          <a:xfrm>
            <a:off x="5997575" y="668337"/>
            <a:ext cx="5997575" cy="195559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5271160-06D8-CB88-F2B1-C4179DF2FF5E}"/>
              </a:ext>
            </a:extLst>
          </p:cNvPr>
          <p:cNvSpPr/>
          <p:nvPr/>
        </p:nvSpPr>
        <p:spPr>
          <a:xfrm>
            <a:off x="0" y="3180522"/>
            <a:ext cx="5800725" cy="276736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72C5EFA-6561-E677-FD96-65B87455AC4D}"/>
              </a:ext>
            </a:extLst>
          </p:cNvPr>
          <p:cNvSpPr/>
          <p:nvPr/>
        </p:nvSpPr>
        <p:spPr>
          <a:xfrm>
            <a:off x="5997575" y="2658143"/>
            <a:ext cx="5997575" cy="235870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37574DD-DE8E-A060-9C30-EA56DB163631}"/>
              </a:ext>
            </a:extLst>
          </p:cNvPr>
          <p:cNvSpPr/>
          <p:nvPr/>
        </p:nvSpPr>
        <p:spPr>
          <a:xfrm>
            <a:off x="5997575" y="5016846"/>
            <a:ext cx="5997575" cy="184115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82199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7ADFBBB-B00D-3E35-C7C3-7DFB2C6FDC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365125"/>
            <a:ext cx="11950700" cy="561975"/>
          </a:xfrm>
        </p:spPr>
        <p:txBody>
          <a:bodyPr>
            <a:noAutofit/>
          </a:bodyPr>
          <a:lstStyle/>
          <a:p>
            <a:r>
              <a:rPr lang="en-US" sz="3200" b="1" dirty="0">
                <a:solidFill>
                  <a:srgbClr val="002060"/>
                </a:solidFill>
                <a:latin typeface="Algerian" panose="04020705040A02060702" pitchFamily="82" charset="0"/>
              </a:rPr>
              <a:t>Modules &amp; Technologies Used in Artery Block Diagram</a:t>
            </a:r>
            <a:br>
              <a:rPr lang="en-US" sz="3200" b="1" dirty="0">
                <a:solidFill>
                  <a:srgbClr val="002060"/>
                </a:solidFill>
                <a:latin typeface="Algerian" panose="04020705040A02060702" pitchFamily="82" charset="0"/>
              </a:rPr>
            </a:br>
            <a:endParaRPr lang="en-IN" sz="3200" dirty="0">
              <a:solidFill>
                <a:srgbClr val="002060"/>
              </a:solidFill>
              <a:latin typeface="Algerian" panose="04020705040A02060702" pitchFamily="82" charset="0"/>
            </a:endParaRPr>
          </a:p>
        </p:txBody>
      </p:sp>
      <p:pic>
        <p:nvPicPr>
          <p:cNvPr id="10" name="Content Placeholder 9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DE250A58-ADB7-409F-E7D8-03017DB753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239" y="729422"/>
            <a:ext cx="9398000" cy="5943600"/>
          </a:xfrm>
        </p:spPr>
      </p:pic>
    </p:spTree>
    <p:extLst>
      <p:ext uri="{BB962C8B-B14F-4D97-AF65-F5344CB8AC3E}">
        <p14:creationId xmlns:p14="http://schemas.microsoft.com/office/powerpoint/2010/main" val="5541130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12333B-332E-9327-9331-08FA812E6D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49792"/>
            <a:ext cx="10515600" cy="1325563"/>
          </a:xfrm>
        </p:spPr>
        <p:txBody>
          <a:bodyPr/>
          <a:lstStyle/>
          <a:p>
            <a:r>
              <a:rPr lang="en-IN" b="1" dirty="0">
                <a:solidFill>
                  <a:schemeClr val="tx2"/>
                </a:solidFill>
              </a:rPr>
              <a:t>                         </a:t>
            </a:r>
            <a:r>
              <a:rPr lang="en-IN" b="1" dirty="0">
                <a:solidFill>
                  <a:schemeClr val="tx2"/>
                </a:solidFill>
                <a:latin typeface="Algerian" panose="04020705040A02060702" pitchFamily="82" charset="0"/>
              </a:rPr>
              <a:t>Define Working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8633F9-4F1F-7605-D73D-DE7AB6A42E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12574"/>
            <a:ext cx="10515600" cy="5406887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   </a:t>
            </a:r>
            <a:r>
              <a:rPr lang="en-US" dirty="0">
                <a:solidFill>
                  <a:srgbClr val="FF0000"/>
                </a:solidFill>
              </a:rPr>
              <a:t>Artery is an </a:t>
            </a:r>
            <a:r>
              <a:rPr lang="en-US" b="1" dirty="0">
                <a:solidFill>
                  <a:srgbClr val="FF0000"/>
                </a:solidFill>
              </a:rPr>
              <a:t>AI-powered OS</a:t>
            </a:r>
            <a:r>
              <a:rPr lang="en-US" dirty="0">
                <a:solidFill>
                  <a:srgbClr val="FF0000"/>
                </a:solidFill>
              </a:rPr>
              <a:t> that can:</a:t>
            </a:r>
          </a:p>
          <a:p>
            <a:pPr lvl="1"/>
            <a:r>
              <a:rPr lang="en-US" b="1" dirty="0"/>
              <a:t>Interact like humans</a:t>
            </a:r>
            <a:r>
              <a:rPr lang="en-US" dirty="0"/>
              <a:t> (via text &amp; speech)</a:t>
            </a:r>
          </a:p>
          <a:p>
            <a:pPr lvl="1"/>
            <a:r>
              <a:rPr lang="en-US" b="1" dirty="0"/>
              <a:t>Recognize and respond to emotions</a:t>
            </a:r>
            <a:r>
              <a:rPr lang="en-US" dirty="0"/>
              <a:t> (voice, face, tone)</a:t>
            </a:r>
          </a:p>
          <a:p>
            <a:pPr lvl="1"/>
            <a:r>
              <a:rPr lang="en-US" b="1" dirty="0"/>
              <a:t>Manage personal devices</a:t>
            </a:r>
            <a:r>
              <a:rPr lang="en-US" dirty="0"/>
              <a:t> (phone + computer)</a:t>
            </a:r>
          </a:p>
          <a:p>
            <a:pPr lvl="1"/>
            <a:r>
              <a:rPr lang="en-US" b="1" dirty="0"/>
              <a:t>Detect security issues</a:t>
            </a:r>
            <a:r>
              <a:rPr lang="en-US" dirty="0"/>
              <a:t> (viruses, suspicious activity)</a:t>
            </a:r>
          </a:p>
          <a:p>
            <a:pPr lvl="1"/>
            <a:r>
              <a:rPr lang="en-US" b="1" dirty="0"/>
              <a:t>Schedule &amp; automate tasks</a:t>
            </a:r>
            <a:r>
              <a:rPr lang="en-US" dirty="0"/>
              <a:t> (calendar, reminders, calls, messages)</a:t>
            </a:r>
          </a:p>
          <a:p>
            <a:pPr lvl="1"/>
            <a:r>
              <a:rPr lang="en-US" b="1" dirty="0"/>
              <a:t>Represent itself with a 2D/3D avatar</a:t>
            </a:r>
            <a:r>
              <a:rPr lang="en-US" dirty="0"/>
              <a:t>, future upgrade → hologram</a:t>
            </a:r>
          </a:p>
          <a:p>
            <a:pPr lvl="1"/>
            <a:endParaRPr lang="en-US" dirty="0"/>
          </a:p>
          <a:p>
            <a:pPr marL="0" indent="0">
              <a:buNone/>
            </a:pPr>
            <a:r>
              <a:rPr lang="en-IN" b="1" dirty="0"/>
              <a:t>               🔄 </a:t>
            </a:r>
            <a:r>
              <a:rPr lang="en-IN" sz="3900" b="1" dirty="0">
                <a:solidFill>
                  <a:schemeClr val="tx2"/>
                </a:solidFill>
                <a:latin typeface="Algerian" panose="04020705040A02060702" pitchFamily="82" charset="0"/>
              </a:rPr>
              <a:t>Flowchart (PPT SmartArt):</a:t>
            </a:r>
          </a:p>
          <a:p>
            <a:r>
              <a:rPr lang="en-IN" dirty="0"/>
              <a:t>User gives </a:t>
            </a:r>
            <a:r>
              <a:rPr lang="en-IN" b="1" dirty="0"/>
              <a:t>Input (Voice/Text/Face)</a:t>
            </a:r>
            <a:endParaRPr lang="en-IN" dirty="0"/>
          </a:p>
          <a:p>
            <a:r>
              <a:rPr lang="en-IN" dirty="0"/>
              <a:t>AI processes → </a:t>
            </a:r>
            <a:r>
              <a:rPr lang="en-IN" b="1" dirty="0"/>
              <a:t>NLP + Emotion + Vision</a:t>
            </a:r>
            <a:endParaRPr lang="en-IN" dirty="0"/>
          </a:p>
          <a:p>
            <a:r>
              <a:rPr lang="en-IN" dirty="0"/>
              <a:t>Core Brain (Decision-making + Scheduling + Security)</a:t>
            </a:r>
          </a:p>
          <a:p>
            <a:r>
              <a:rPr lang="en-IN" b="1" dirty="0"/>
              <a:t>Output</a:t>
            </a:r>
            <a:r>
              <a:rPr lang="en-IN" dirty="0"/>
              <a:t> → Reply (Text/Voice/Avatar) + Action (call, alert, schedule, control device)</a:t>
            </a:r>
          </a:p>
          <a:p>
            <a:pPr marL="457200" lvl="1" indent="0">
              <a:buNone/>
            </a:pPr>
            <a:endParaRPr lang="en-US" dirty="0"/>
          </a:p>
          <a:p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B82EE1F-7265-C8BA-4FFE-51E8B554FF21}"/>
              </a:ext>
            </a:extLst>
          </p:cNvPr>
          <p:cNvSpPr/>
          <p:nvPr/>
        </p:nvSpPr>
        <p:spPr>
          <a:xfrm>
            <a:off x="838200" y="3846443"/>
            <a:ext cx="9627704" cy="277301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2EFFA91-9171-C686-8B18-F2E9BD2A92CD}"/>
              </a:ext>
            </a:extLst>
          </p:cNvPr>
          <p:cNvSpPr/>
          <p:nvPr/>
        </p:nvSpPr>
        <p:spPr>
          <a:xfrm>
            <a:off x="838199" y="347870"/>
            <a:ext cx="9627703" cy="332960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2767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2780A9-6576-85A0-F8EC-DEFA2143C3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8904"/>
            <a:ext cx="5165035" cy="65896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 </a:t>
            </a:r>
            <a:r>
              <a:rPr lang="en-IN" b="1" dirty="0"/>
              <a:t>🎥 </a:t>
            </a:r>
            <a:r>
              <a:rPr lang="en-IN" b="1" dirty="0">
                <a:solidFill>
                  <a:schemeClr val="tx2"/>
                </a:solidFill>
                <a:latin typeface="Algerian" panose="04020705040A02060702" pitchFamily="82" charset="0"/>
              </a:rPr>
              <a:t>Tutorial URLs (for basics covered in intro)</a:t>
            </a:r>
          </a:p>
          <a:p>
            <a:r>
              <a:rPr lang="en-IN" sz="2400" b="1" dirty="0"/>
              <a:t>Response (NLP + GPT):</a:t>
            </a:r>
            <a:r>
              <a:rPr lang="en-IN" sz="2400" dirty="0"/>
              <a:t> </a:t>
            </a:r>
            <a:r>
              <a:rPr lang="en-IN" sz="2400" dirty="0">
                <a:hlinkClick r:id="rId2"/>
              </a:rPr>
              <a:t>YouTube – Build Chatbot in Python</a:t>
            </a:r>
            <a:endParaRPr lang="en-IN" sz="2400" dirty="0"/>
          </a:p>
          <a:p>
            <a:r>
              <a:rPr lang="en-IN" sz="2400" b="1" dirty="0"/>
              <a:t>Speech Recognition + Voice AI:</a:t>
            </a:r>
            <a:r>
              <a:rPr lang="en-IN" sz="2400" dirty="0"/>
              <a:t> </a:t>
            </a:r>
            <a:r>
              <a:rPr lang="en-IN" sz="2400" dirty="0">
                <a:hlinkClick r:id="rId3"/>
              </a:rPr>
              <a:t>YouTube – Jarvis AI with Python</a:t>
            </a:r>
            <a:endParaRPr lang="en-IN" sz="2400" dirty="0"/>
          </a:p>
          <a:p>
            <a:r>
              <a:rPr lang="en-IN" sz="2400" b="1" dirty="0"/>
              <a:t>OpenCV Face Recognition (Vision):</a:t>
            </a:r>
            <a:r>
              <a:rPr lang="en-IN" sz="2400" dirty="0"/>
              <a:t> </a:t>
            </a:r>
            <a:r>
              <a:rPr lang="en-IN" sz="2400" dirty="0">
                <a:hlinkClick r:id="rId4"/>
              </a:rPr>
              <a:t>YouTube – Face Detection with OpenCV</a:t>
            </a:r>
            <a:endParaRPr lang="en-IN" sz="2400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ADF7F87-76BC-EF18-DDCC-C0DA0952F5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27383" y="-25472"/>
            <a:ext cx="11764617" cy="9848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                                   🖼️ </a:t>
            </a: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lgerian" panose="04020705040A02060702" pitchFamily="82" charset="0"/>
              </a:rPr>
              <a:t>Block </a:t>
            </a:r>
            <a:r>
              <a:rPr kumimoji="0" lang="en-US" altLang="en-US" sz="4000" b="1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Algerian" panose="04020705040A02060702" pitchFamily="82" charset="0"/>
              </a:rPr>
              <a:t>DiagraM</a:t>
            </a: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lgerian" panose="04020705040A02060702" pitchFamily="82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                      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CFC4ADF-53AE-AF14-D9CD-8997E828AEC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4355" y="815010"/>
            <a:ext cx="5551871" cy="6042990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22721E0-634E-EF55-9A7C-9D3AB0C11D73}"/>
              </a:ext>
            </a:extLst>
          </p:cNvPr>
          <p:cNvSpPr/>
          <p:nvPr/>
        </p:nvSpPr>
        <p:spPr>
          <a:xfrm>
            <a:off x="616226" y="159026"/>
            <a:ext cx="5406887" cy="660952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3893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8EBE3-A636-19E7-5BF3-3167537D09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9452"/>
            <a:ext cx="10515600" cy="566532"/>
          </a:xfrm>
        </p:spPr>
        <p:txBody>
          <a:bodyPr>
            <a:noAutofit/>
          </a:bodyPr>
          <a:lstStyle/>
          <a:p>
            <a:r>
              <a:rPr lang="en-US" sz="3600" b="1" dirty="0">
                <a:solidFill>
                  <a:schemeClr val="tx2"/>
                </a:solidFill>
                <a:latin typeface="Algerian" panose="04020705040A02060702" pitchFamily="82" charset="0"/>
              </a:rPr>
              <a:t>                   🔄 Flow Idea </a:t>
            </a:r>
            <a:endParaRPr lang="en-IN" sz="3600" b="1" dirty="0">
              <a:solidFill>
                <a:schemeClr val="tx2"/>
              </a:solidFill>
              <a:latin typeface="Algerian" panose="04020705040A02060702" pitchFamily="82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D49539A-0BB3-BA6A-9988-810704066B2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0" y="3311715"/>
            <a:ext cx="9551504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lgerian" panose="04020705040A02060702" pitchFamily="82" charset="0"/>
              </a:rPr>
              <a:t>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3600" b="1" dirty="0">
                <a:solidFill>
                  <a:schemeClr val="tx2"/>
                </a:solidFill>
                <a:latin typeface="Algerian" panose="04020705040A02060702" pitchFamily="82" charset="0"/>
              </a:rPr>
              <a:t>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lgerian" panose="04020705040A02060702" pitchFamily="82" charset="0"/>
              </a:rPr>
              <a:t>                ⚙️ Define Working: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800" b="1" dirty="0">
                <a:latin typeface="Arial" panose="020B0604020202020204" pitchFamily="34" charset="0"/>
              </a:rPr>
              <a:t>Response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+ NLP</a:t>
            </a:r>
            <a:r>
              <a:rPr kumimoji="0" lang="en-US" altLang="en-US" sz="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Uses Transformer models (like GPT) for natural responses.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Voice Module: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SpeechRecognition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+ TTS for real-time communication.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Vision Module: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OpenCV + Deep Learning for recognition.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Emotion Detection: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ML models analyzing tone &amp; facial expressions.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Security Module: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Scans files/processes for threats + sends phone alerts.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Scheduler: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Uses Python libraries (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schedule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calendar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to manage tasks.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60D9662-A6A7-FE95-1DD7-47E740DD6E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139" y="655984"/>
            <a:ext cx="8058075" cy="3041374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F572911-65A7-4E0F-E0A2-6AEF2E2746BD}"/>
              </a:ext>
            </a:extLst>
          </p:cNvPr>
          <p:cNvSpPr/>
          <p:nvPr/>
        </p:nvSpPr>
        <p:spPr>
          <a:xfrm>
            <a:off x="168965" y="89452"/>
            <a:ext cx="8816009" cy="391601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029C74E-B81D-003D-9830-8D3B5B0C0582}"/>
              </a:ext>
            </a:extLst>
          </p:cNvPr>
          <p:cNvSpPr/>
          <p:nvPr/>
        </p:nvSpPr>
        <p:spPr>
          <a:xfrm>
            <a:off x="0" y="4333461"/>
            <a:ext cx="9144000" cy="252453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37446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6F90B-9FEB-9FA8-39F3-9DE6EC120F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022" y="199546"/>
            <a:ext cx="10986052" cy="569153"/>
          </a:xfrm>
        </p:spPr>
        <p:txBody>
          <a:bodyPr>
            <a:normAutofit fontScale="90000"/>
          </a:bodyPr>
          <a:lstStyle/>
          <a:p>
            <a:r>
              <a:rPr lang="en-US" sz="3200" b="1" dirty="0">
                <a:solidFill>
                  <a:schemeClr val="tx2"/>
                </a:solidFill>
                <a:latin typeface="Algerian" panose="04020705040A02060702" pitchFamily="82" charset="0"/>
              </a:rPr>
              <a:t>💻 Example Code Snippet (Feature – Chatbot with NLP):</a:t>
            </a:r>
            <a:endParaRPr lang="en-IN" sz="3200" b="1" dirty="0">
              <a:solidFill>
                <a:schemeClr val="tx2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AD213D-E0F5-E174-655D-D6091A1065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24931"/>
            <a:ext cx="12682331" cy="564214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dirty="0">
                <a:solidFill>
                  <a:schemeClr val="accent2">
                    <a:lumMod val="60000"/>
                    <a:lumOff val="40000"/>
                  </a:schemeClr>
                </a:solidFill>
                <a:highlight>
                  <a:srgbClr val="000000"/>
                </a:highlight>
              </a:rPr>
              <a:t>from transformers import pipeline</a:t>
            </a:r>
          </a:p>
          <a:p>
            <a:pPr marL="0" indent="0">
              <a:buNone/>
            </a:pPr>
            <a:r>
              <a:rPr lang="en-IN" dirty="0" err="1">
                <a:solidFill>
                  <a:schemeClr val="accent2">
                    <a:lumMod val="60000"/>
                    <a:lumOff val="40000"/>
                  </a:schemeClr>
                </a:solidFill>
                <a:highlight>
                  <a:srgbClr val="000000"/>
                </a:highlight>
              </a:rPr>
              <a:t>chatbo</a:t>
            </a:r>
            <a:endParaRPr lang="en-IN" dirty="0">
              <a:solidFill>
                <a:schemeClr val="accent2">
                  <a:lumMod val="60000"/>
                  <a:lumOff val="40000"/>
                </a:schemeClr>
              </a:solidFill>
              <a:highlight>
                <a:srgbClr val="000000"/>
              </a:highlight>
            </a:endParaRPr>
          </a:p>
          <a:p>
            <a:pPr marL="0" indent="0">
              <a:buNone/>
            </a:pPr>
            <a:r>
              <a:rPr lang="en-IN" dirty="0">
                <a:solidFill>
                  <a:schemeClr val="accent2">
                    <a:lumMod val="60000"/>
                    <a:lumOff val="40000"/>
                  </a:schemeClr>
                </a:solidFill>
                <a:highlight>
                  <a:srgbClr val="000000"/>
                </a:highlight>
              </a:rPr>
              <a:t>response = chatbot(</a:t>
            </a:r>
            <a:r>
              <a:rPr lang="en-IN" dirty="0" err="1">
                <a:solidFill>
                  <a:schemeClr val="accent2">
                    <a:lumMod val="60000"/>
                    <a:lumOff val="40000"/>
                  </a:schemeClr>
                </a:solidFill>
                <a:highlight>
                  <a:srgbClr val="000000"/>
                </a:highlight>
              </a:rPr>
              <a:t>user_input</a:t>
            </a:r>
            <a:r>
              <a:rPr lang="en-IN" dirty="0">
                <a:solidFill>
                  <a:schemeClr val="accent2">
                    <a:lumMod val="60000"/>
                    <a:lumOff val="40000"/>
                  </a:schemeClr>
                </a:solidFill>
                <a:highlight>
                  <a:srgbClr val="000000"/>
                </a:highlight>
              </a:rPr>
              <a:t>, </a:t>
            </a:r>
            <a:r>
              <a:rPr lang="en-IN" dirty="0" err="1">
                <a:solidFill>
                  <a:schemeClr val="accent2">
                    <a:lumMod val="60000"/>
                    <a:lumOff val="40000"/>
                  </a:schemeClr>
                </a:solidFill>
                <a:highlight>
                  <a:srgbClr val="000000"/>
                </a:highlight>
              </a:rPr>
              <a:t>max_leng</a:t>
            </a:r>
            <a:endParaRPr lang="en-IN" dirty="0">
              <a:solidFill>
                <a:schemeClr val="accent2">
                  <a:lumMod val="60000"/>
                  <a:lumOff val="40000"/>
                </a:schemeClr>
              </a:solidFill>
              <a:highlight>
                <a:srgbClr val="000000"/>
              </a:highlight>
            </a:endParaRPr>
          </a:p>
          <a:p>
            <a:pPr marL="0" indent="0">
              <a:buNone/>
            </a:pPr>
            <a:r>
              <a:rPr lang="en-IN" dirty="0">
                <a:solidFill>
                  <a:schemeClr val="accent2">
                    <a:lumMod val="60000"/>
                    <a:lumOff val="40000"/>
                  </a:schemeClr>
                </a:solidFill>
                <a:highlight>
                  <a:srgbClr val="000000"/>
                </a:highlight>
              </a:rPr>
              <a:t>print("Artery:", response[0]['</a:t>
            </a:r>
            <a:r>
              <a:rPr lang="en-IN" dirty="0" err="1">
                <a:solidFill>
                  <a:schemeClr val="accent2">
                    <a:lumMod val="60000"/>
                    <a:lumOff val="40000"/>
                  </a:schemeClr>
                </a:solidFill>
                <a:highlight>
                  <a:srgbClr val="000000"/>
                </a:highlight>
              </a:rPr>
              <a:t>generated_text</a:t>
            </a:r>
            <a:r>
              <a:rPr lang="en-IN" dirty="0">
                <a:solidFill>
                  <a:schemeClr val="accent2">
                    <a:lumMod val="60000"/>
                    <a:lumOff val="40000"/>
                  </a:schemeClr>
                </a:solidFill>
                <a:highlight>
                  <a:srgbClr val="000000"/>
                </a:highlight>
              </a:rPr>
              <a:t>’])</a:t>
            </a:r>
          </a:p>
          <a:p>
            <a:pPr marL="0" indent="0">
              <a:buNone/>
            </a:pPr>
            <a:endParaRPr lang="en-IN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IN" sz="3600" b="1" dirty="0">
              <a:solidFill>
                <a:schemeClr val="tx2"/>
              </a:solidFill>
              <a:latin typeface="Algerian" panose="04020705040A02060702" pitchFamily="82" charset="0"/>
            </a:endParaRPr>
          </a:p>
          <a:p>
            <a:pPr marL="0" indent="0">
              <a:buNone/>
            </a:pPr>
            <a:endParaRPr lang="en-IN" sz="3600" b="1" dirty="0">
              <a:solidFill>
                <a:schemeClr val="tx2"/>
              </a:solidFill>
              <a:latin typeface="Algerian" panose="04020705040A02060702" pitchFamily="82" charset="0"/>
            </a:endParaRPr>
          </a:p>
          <a:p>
            <a:pPr marL="0" indent="0">
              <a:buNone/>
            </a:pPr>
            <a:r>
              <a:rPr lang="en-IN" sz="3600" b="1" dirty="0">
                <a:solidFill>
                  <a:schemeClr val="tx2"/>
                </a:solidFill>
                <a:latin typeface="Algerian" panose="04020705040A02060702" pitchFamily="82" charset="0"/>
              </a:rPr>
              <a:t>         🎥 Tutorial URLs:</a:t>
            </a:r>
          </a:p>
          <a:p>
            <a:r>
              <a:rPr lang="en-IN" sz="2600" b="1" dirty="0"/>
              <a:t>Response + NLP:</a:t>
            </a:r>
            <a:r>
              <a:rPr lang="en-IN" sz="2600" dirty="0"/>
              <a:t> </a:t>
            </a:r>
            <a:r>
              <a:rPr lang="en-IN" sz="2600" dirty="0">
                <a:hlinkClick r:id="rId2"/>
              </a:rPr>
              <a:t>Udemy – NLP AI Assistant</a:t>
            </a:r>
            <a:endParaRPr lang="en-IN" sz="2600" dirty="0"/>
          </a:p>
          <a:p>
            <a:r>
              <a:rPr lang="en-IN" sz="2600" b="1" dirty="0"/>
              <a:t>Voice Assistant:</a:t>
            </a:r>
            <a:r>
              <a:rPr lang="en-IN" sz="2600" dirty="0"/>
              <a:t> </a:t>
            </a:r>
            <a:r>
              <a:rPr lang="en-IN" sz="2600" dirty="0">
                <a:hlinkClick r:id="rId3"/>
              </a:rPr>
              <a:t>YouTube – Jarvis AI</a:t>
            </a:r>
            <a:endParaRPr lang="en-IN" sz="2600" dirty="0"/>
          </a:p>
          <a:p>
            <a:r>
              <a:rPr lang="en-IN" sz="2600" b="1" dirty="0"/>
              <a:t>OpenCV Vision:</a:t>
            </a:r>
            <a:r>
              <a:rPr lang="en-IN" sz="2600" dirty="0"/>
              <a:t> </a:t>
            </a:r>
            <a:r>
              <a:rPr lang="en-IN" sz="2600" dirty="0">
                <a:hlinkClick r:id="rId4"/>
              </a:rPr>
              <a:t>YouTube – Face Recognition</a:t>
            </a:r>
            <a:endParaRPr lang="en-IN" sz="2600" dirty="0"/>
          </a:p>
          <a:p>
            <a:r>
              <a:rPr lang="en-IN" sz="2600" b="1" dirty="0"/>
              <a:t>Task Scheduler:</a:t>
            </a:r>
            <a:r>
              <a:rPr lang="en-IN" sz="2600" dirty="0"/>
              <a:t> Python Schedule Docs</a:t>
            </a:r>
          </a:p>
          <a:p>
            <a:pPr marL="0" indent="0">
              <a:buNone/>
            </a:pPr>
            <a:endParaRPr lang="en-IN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FA22DC-F7BD-3468-23F4-1136C09BE84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3730" y="1024931"/>
            <a:ext cx="4593180" cy="265276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DCFC90C-FCCB-2FC3-861D-6CEECFC5867A}"/>
              </a:ext>
            </a:extLst>
          </p:cNvPr>
          <p:cNvSpPr/>
          <p:nvPr/>
        </p:nvSpPr>
        <p:spPr>
          <a:xfrm>
            <a:off x="0" y="947056"/>
            <a:ext cx="7023798" cy="2552282"/>
          </a:xfrm>
          <a:prstGeom prst="rect">
            <a:avLst/>
          </a:prstGeom>
          <a:blipFill>
            <a:blip r:embed="rId6"/>
            <a:tile tx="0" ty="0" sx="100000" sy="100000" flip="none" algn="tl"/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>
                <a:solidFill>
                  <a:schemeClr val="tx1"/>
                </a:solidFill>
              </a:rPr>
              <a:t>from transformers import pipeline</a:t>
            </a:r>
          </a:p>
          <a:p>
            <a:r>
              <a:rPr lang="en-IN" b="1" dirty="0">
                <a:solidFill>
                  <a:schemeClr val="tx1"/>
                </a:solidFill>
              </a:rPr>
              <a:t>chatbot = pipeline("text-generation", model="gpt2")</a:t>
            </a:r>
          </a:p>
          <a:p>
            <a:r>
              <a:rPr lang="en-IN" b="1" dirty="0" err="1">
                <a:solidFill>
                  <a:schemeClr val="tx1"/>
                </a:solidFill>
              </a:rPr>
              <a:t>user_input</a:t>
            </a:r>
            <a:r>
              <a:rPr lang="en-IN" b="1" dirty="0">
                <a:solidFill>
                  <a:schemeClr val="tx1"/>
                </a:solidFill>
              </a:rPr>
              <a:t> = "Hello Artery, how are you?"</a:t>
            </a:r>
          </a:p>
          <a:p>
            <a:r>
              <a:rPr lang="en-IN" b="1" dirty="0">
                <a:solidFill>
                  <a:schemeClr val="tx1"/>
                </a:solidFill>
              </a:rPr>
              <a:t>response = chatbot(</a:t>
            </a:r>
            <a:r>
              <a:rPr lang="en-IN" b="1" dirty="0" err="1">
                <a:solidFill>
                  <a:schemeClr val="tx1"/>
                </a:solidFill>
              </a:rPr>
              <a:t>user_input</a:t>
            </a:r>
            <a:r>
              <a:rPr lang="en-IN" b="1" dirty="0">
                <a:solidFill>
                  <a:schemeClr val="tx1"/>
                </a:solidFill>
              </a:rPr>
              <a:t>, </a:t>
            </a:r>
            <a:r>
              <a:rPr lang="en-IN" b="1" dirty="0" err="1">
                <a:solidFill>
                  <a:schemeClr val="tx1"/>
                </a:solidFill>
              </a:rPr>
              <a:t>max_length</a:t>
            </a:r>
            <a:r>
              <a:rPr lang="en-IN" b="1" dirty="0">
                <a:solidFill>
                  <a:schemeClr val="tx1"/>
                </a:solidFill>
              </a:rPr>
              <a:t>=50, </a:t>
            </a:r>
            <a:r>
              <a:rPr lang="en-IN" b="1" dirty="0" err="1">
                <a:solidFill>
                  <a:schemeClr val="tx1"/>
                </a:solidFill>
              </a:rPr>
              <a:t>do_sample</a:t>
            </a:r>
            <a:r>
              <a:rPr lang="en-IN" b="1" dirty="0">
                <a:solidFill>
                  <a:schemeClr val="tx1"/>
                </a:solidFill>
              </a:rPr>
              <a:t>=True)</a:t>
            </a:r>
          </a:p>
          <a:p>
            <a:r>
              <a:rPr lang="en-IN" b="1" dirty="0">
                <a:solidFill>
                  <a:schemeClr val="tx1"/>
                </a:solidFill>
              </a:rPr>
              <a:t>print("Artery:", response[0]['</a:t>
            </a:r>
            <a:r>
              <a:rPr lang="en-IN" b="1" dirty="0" err="1">
                <a:solidFill>
                  <a:schemeClr val="tx1"/>
                </a:solidFill>
              </a:rPr>
              <a:t>generated_text</a:t>
            </a:r>
            <a:r>
              <a:rPr lang="en-IN" b="1" dirty="0">
                <a:solidFill>
                  <a:schemeClr val="tx1"/>
                </a:solidFill>
              </a:rPr>
              <a:t>’])</a:t>
            </a:r>
          </a:p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3B49E23-0A3F-CE4E-F508-8495112693AE}"/>
              </a:ext>
            </a:extLst>
          </p:cNvPr>
          <p:cNvSpPr/>
          <p:nvPr/>
        </p:nvSpPr>
        <p:spPr>
          <a:xfrm>
            <a:off x="0" y="3999244"/>
            <a:ext cx="6792686" cy="265921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6735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3E30A-D407-4DD2-111F-D205E4139D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8301"/>
          </a:xfrm>
        </p:spPr>
        <p:txBody>
          <a:bodyPr/>
          <a:lstStyle/>
          <a:p>
            <a:r>
              <a:rPr lang="en-IN" b="1" dirty="0">
                <a:solidFill>
                  <a:schemeClr val="tx2"/>
                </a:solidFill>
                <a:latin typeface="Algerian" panose="04020705040A02060702" pitchFamily="82" charset="0"/>
              </a:rPr>
              <a:t>Response Module (Like ChatGPT)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80EEEE-7F94-E55C-C9AE-A1B82DAC93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72816"/>
            <a:ext cx="10515600" cy="5685183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C00000"/>
                </a:solidFill>
              </a:rPr>
              <a:t>The Chatbot Module enables Artery to:</a:t>
            </a:r>
          </a:p>
          <a:p>
            <a:r>
              <a:rPr lang="en-US" sz="2400" dirty="0"/>
              <a:t>Converse naturally like humans.</a:t>
            </a:r>
          </a:p>
          <a:p>
            <a:r>
              <a:rPr lang="en-US" sz="2400" dirty="0"/>
              <a:t>Understand context, emotions, and intent.</a:t>
            </a:r>
          </a:p>
          <a:p>
            <a:r>
              <a:rPr lang="en-US" sz="2400" dirty="0"/>
              <a:t>Reply via </a:t>
            </a:r>
            <a:r>
              <a:rPr lang="en-US" sz="2400" b="1" dirty="0"/>
              <a:t>text</a:t>
            </a:r>
            <a:r>
              <a:rPr lang="en-US" sz="2400" dirty="0"/>
              <a:t> &amp; </a:t>
            </a:r>
            <a:r>
              <a:rPr lang="en-US" sz="2400" b="1" dirty="0"/>
              <a:t>voice</a:t>
            </a:r>
            <a:r>
              <a:rPr lang="en-US" sz="2400" dirty="0"/>
              <a:t>.</a:t>
            </a:r>
          </a:p>
          <a:p>
            <a:r>
              <a:rPr lang="en-US" sz="2400" dirty="0"/>
              <a:t>Integrate with calls, SMS, and apps (future upgrade).</a:t>
            </a:r>
          </a:p>
          <a:p>
            <a:pPr marL="0" indent="0">
              <a:buNone/>
            </a:pPr>
            <a:r>
              <a:rPr lang="en-IN" sz="3600" b="1" dirty="0">
                <a:solidFill>
                  <a:schemeClr val="tx2"/>
                </a:solidFill>
                <a:latin typeface="Algerian" panose="04020705040A02060702" pitchFamily="82" charset="0"/>
              </a:rPr>
              <a:t>             🔄 Block Diagram (for PPT):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202AD5-00C6-14B8-0678-7B998BA2DD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6778" y="4035288"/>
            <a:ext cx="4391130" cy="2822712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28600D4-9DE9-4BD2-FB48-01761F629079}"/>
              </a:ext>
            </a:extLst>
          </p:cNvPr>
          <p:cNvSpPr/>
          <p:nvPr/>
        </p:nvSpPr>
        <p:spPr>
          <a:xfrm>
            <a:off x="268356" y="3518452"/>
            <a:ext cx="11688417" cy="3438937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45A7013-94F3-2E9E-FBD4-7DC4D19444CE}"/>
              </a:ext>
            </a:extLst>
          </p:cNvPr>
          <p:cNvSpPr/>
          <p:nvPr/>
        </p:nvSpPr>
        <p:spPr>
          <a:xfrm>
            <a:off x="447261" y="268357"/>
            <a:ext cx="11340548" cy="3230217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48154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09B50-93A9-DB27-EA91-F748EE616A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solidFill>
                  <a:srgbClr val="002060"/>
                </a:solidFill>
                <a:latin typeface="Algerian" panose="04020705040A02060702" pitchFamily="82" charset="0"/>
              </a:rPr>
              <a:t>⚙️ Define Working: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DC57248-368E-C072-95AD-CD5BA72339E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488635" y="1811438"/>
            <a:ext cx="8279295" cy="42688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Input Layer: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User gives text/voice.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Preprocessing: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Voice → Text 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SpeechRecognition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NLP Model: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Processes intent using GPT/BERT.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Response Generator: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Creates human-like response.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Output: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Converted to voice (Text-to-Speech).</a:t>
            </a:r>
          </a:p>
          <a:p>
            <a:pPr marL="0" indent="0" algn="ctr">
              <a:buNone/>
            </a:pPr>
            <a:endParaRPr lang="en-US" sz="1800" dirty="0">
              <a:latin typeface="Arial" panose="020B0604020202020204" pitchFamily="34" charset="0"/>
            </a:endParaRPr>
          </a:p>
          <a:p>
            <a:pPr marL="0" indent="0" algn="ctr">
              <a:buNone/>
            </a:pPr>
            <a:endParaRPr lang="en-US" sz="1800" b="1" dirty="0">
              <a:solidFill>
                <a:srgbClr val="002060"/>
              </a:solidFill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en-IN" sz="3600" b="1" dirty="0">
                <a:solidFill>
                  <a:srgbClr val="002060"/>
                </a:solidFill>
                <a:latin typeface="Algerian" panose="04020705040A02060702" pitchFamily="82" charset="0"/>
              </a:rPr>
              <a:t>🎥 Tutorial URLs:</a:t>
            </a:r>
          </a:p>
          <a:p>
            <a:r>
              <a:rPr lang="en-IN" sz="1800" b="1" dirty="0"/>
              <a:t>Text + Voice Chatbot:</a:t>
            </a:r>
            <a:r>
              <a:rPr lang="en-IN" sz="1800" dirty="0"/>
              <a:t> </a:t>
            </a:r>
            <a:r>
              <a:rPr lang="en-IN" sz="1800" dirty="0">
                <a:hlinkClick r:id="rId2"/>
              </a:rPr>
              <a:t>YouTube – Python Jarvis</a:t>
            </a:r>
            <a:endParaRPr lang="en-IN" sz="1800" dirty="0"/>
          </a:p>
          <a:p>
            <a:r>
              <a:rPr lang="en-IN" sz="1800" b="1" dirty="0"/>
              <a:t>Transformers NLP:</a:t>
            </a:r>
            <a:r>
              <a:rPr lang="en-IN" sz="1800" dirty="0"/>
              <a:t> </a:t>
            </a:r>
            <a:r>
              <a:rPr lang="en-IN" sz="1800" dirty="0" err="1"/>
              <a:t>HuggingFace</a:t>
            </a:r>
            <a:r>
              <a:rPr lang="en-IN" sz="1800" dirty="0"/>
              <a:t> Docs</a:t>
            </a:r>
          </a:p>
          <a:p>
            <a:r>
              <a:rPr lang="en-IN" sz="1800" b="1" dirty="0"/>
              <a:t>Speech Recognition:</a:t>
            </a:r>
            <a:r>
              <a:rPr lang="en-IN" sz="1800" dirty="0"/>
              <a:t> </a:t>
            </a:r>
            <a:r>
              <a:rPr lang="en-IN" sz="1800" dirty="0">
                <a:hlinkClick r:id="rId3"/>
              </a:rPr>
              <a:t>Python </a:t>
            </a:r>
            <a:r>
              <a:rPr lang="en-IN" sz="1800" dirty="0" err="1">
                <a:hlinkClick r:id="rId3"/>
              </a:rPr>
              <a:t>SpeechRecognition</a:t>
            </a:r>
            <a:r>
              <a:rPr lang="en-IN" sz="1800" dirty="0">
                <a:hlinkClick r:id="rId3"/>
              </a:rPr>
              <a:t> Docs</a:t>
            </a:r>
            <a:endParaRPr lang="en-IN" sz="18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5A68140-3E25-5A01-AA88-9BE0BE1EC85A}"/>
              </a:ext>
            </a:extLst>
          </p:cNvPr>
          <p:cNvSpPr/>
          <p:nvPr/>
        </p:nvSpPr>
        <p:spPr>
          <a:xfrm>
            <a:off x="1053548" y="365125"/>
            <a:ext cx="10078277" cy="336204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23E8B37-3E39-9F96-A551-DB2A27037842}"/>
              </a:ext>
            </a:extLst>
          </p:cNvPr>
          <p:cNvSpPr/>
          <p:nvPr/>
        </p:nvSpPr>
        <p:spPr>
          <a:xfrm>
            <a:off x="1192696" y="3866322"/>
            <a:ext cx="10078277" cy="278295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91581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0FB56F-59AC-CADF-4F8B-2AFC377B8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6200" y="245856"/>
            <a:ext cx="10515600" cy="82136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002060"/>
                </a:solidFill>
                <a:latin typeface="Algerian" panose="04020705040A02060702" pitchFamily="82" charset="0"/>
              </a:rPr>
              <a:t>💻 Example Code Snippet: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38388B-93D1-79E9-342A-A7ED1994A2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7930" y="606287"/>
            <a:ext cx="11708296" cy="6251712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IN" sz="5600" dirty="0">
                <a:solidFill>
                  <a:schemeClr val="accent2">
                    <a:lumMod val="60000"/>
                    <a:lumOff val="40000"/>
                  </a:schemeClr>
                </a:solidFill>
                <a:highlight>
                  <a:srgbClr val="000000"/>
                </a:highlight>
              </a:rPr>
              <a:t>import </a:t>
            </a:r>
            <a:r>
              <a:rPr lang="en-IN" sz="5600" dirty="0" err="1">
                <a:solidFill>
                  <a:schemeClr val="accent2">
                    <a:lumMod val="60000"/>
                    <a:lumOff val="40000"/>
                  </a:schemeClr>
                </a:solidFill>
                <a:highlight>
                  <a:srgbClr val="000000"/>
                </a:highlight>
              </a:rPr>
              <a:t>speech_recognition</a:t>
            </a:r>
            <a:r>
              <a:rPr lang="en-IN" sz="5600" dirty="0">
                <a:solidFill>
                  <a:schemeClr val="accent2">
                    <a:lumMod val="60000"/>
                    <a:lumOff val="40000"/>
                  </a:schemeClr>
                </a:solidFill>
                <a:highlight>
                  <a:srgbClr val="000000"/>
                </a:highlight>
              </a:rPr>
              <a:t> as </a:t>
            </a:r>
            <a:r>
              <a:rPr lang="en-IN" sz="5600" dirty="0" err="1">
                <a:solidFill>
                  <a:schemeClr val="accent2">
                    <a:lumMod val="60000"/>
                    <a:lumOff val="40000"/>
                  </a:schemeClr>
                </a:solidFill>
                <a:highlight>
                  <a:srgbClr val="000000"/>
                </a:highlight>
              </a:rPr>
              <a:t>sr</a:t>
            </a:r>
            <a:endParaRPr lang="en-IN" sz="5600" dirty="0">
              <a:solidFill>
                <a:schemeClr val="accent2">
                  <a:lumMod val="60000"/>
                  <a:lumOff val="40000"/>
                </a:schemeClr>
              </a:solidFill>
              <a:highlight>
                <a:srgbClr val="000000"/>
              </a:highlight>
            </a:endParaRPr>
          </a:p>
          <a:p>
            <a:pPr marL="0" indent="0">
              <a:buNone/>
            </a:pPr>
            <a:r>
              <a:rPr lang="en-IN" sz="5600" dirty="0">
                <a:solidFill>
                  <a:schemeClr val="accent2">
                    <a:lumMod val="60000"/>
                    <a:lumOff val="40000"/>
                  </a:schemeClr>
                </a:solidFill>
                <a:highlight>
                  <a:srgbClr val="000000"/>
                </a:highlight>
              </a:rPr>
              <a:t>import pyttsx3</a:t>
            </a:r>
          </a:p>
          <a:p>
            <a:pPr marL="0" indent="0">
              <a:buNone/>
            </a:pPr>
            <a:r>
              <a:rPr lang="en-IN" sz="5600" dirty="0">
                <a:solidFill>
                  <a:schemeClr val="accent2">
                    <a:lumMod val="60000"/>
                    <a:lumOff val="40000"/>
                  </a:schemeClr>
                </a:solidFill>
                <a:highlight>
                  <a:srgbClr val="000000"/>
                </a:highlight>
              </a:rPr>
              <a:t>from transformers import pipeline</a:t>
            </a:r>
          </a:p>
          <a:p>
            <a:pPr marL="0" indent="0">
              <a:buNone/>
            </a:pPr>
            <a:r>
              <a:rPr lang="en-IN" sz="5600" dirty="0">
                <a:solidFill>
                  <a:schemeClr val="accent2">
                    <a:lumMod val="60000"/>
                    <a:lumOff val="40000"/>
                  </a:schemeClr>
                </a:solidFill>
                <a:highlight>
                  <a:srgbClr val="000000"/>
                </a:highlight>
              </a:rPr>
              <a:t># Initialize chatbot &amp; TTS</a:t>
            </a:r>
          </a:p>
          <a:p>
            <a:pPr marL="0" indent="0">
              <a:buNone/>
            </a:pPr>
            <a:r>
              <a:rPr lang="en-IN" sz="5600" dirty="0">
                <a:solidFill>
                  <a:schemeClr val="accent2">
                    <a:lumMod val="60000"/>
                    <a:lumOff val="40000"/>
                  </a:schemeClr>
                </a:solidFill>
                <a:highlight>
                  <a:srgbClr val="000000"/>
                </a:highlight>
              </a:rPr>
              <a:t>chatbot = pipeline("text-generation", model="gpt2")</a:t>
            </a:r>
          </a:p>
          <a:p>
            <a:pPr marL="0" indent="0">
              <a:buNone/>
            </a:pPr>
            <a:r>
              <a:rPr lang="en-IN" sz="5600" dirty="0">
                <a:solidFill>
                  <a:schemeClr val="accent2">
                    <a:lumMod val="60000"/>
                    <a:lumOff val="40000"/>
                  </a:schemeClr>
                </a:solidFill>
                <a:highlight>
                  <a:srgbClr val="000000"/>
                </a:highlight>
              </a:rPr>
              <a:t>engine = pyttsx3.init()</a:t>
            </a:r>
          </a:p>
          <a:p>
            <a:pPr marL="0" indent="0">
              <a:buNone/>
            </a:pPr>
            <a:r>
              <a:rPr lang="en-IN" sz="5600" dirty="0">
                <a:solidFill>
                  <a:schemeClr val="accent2">
                    <a:lumMod val="60000"/>
                    <a:lumOff val="40000"/>
                  </a:schemeClr>
                </a:solidFill>
                <a:highlight>
                  <a:srgbClr val="000000"/>
                </a:highlight>
              </a:rPr>
              <a:t># Voice recognition</a:t>
            </a:r>
          </a:p>
          <a:p>
            <a:pPr marL="0" indent="0">
              <a:buNone/>
            </a:pPr>
            <a:r>
              <a:rPr lang="en-IN" sz="5600" dirty="0">
                <a:solidFill>
                  <a:schemeClr val="accent2">
                    <a:lumMod val="60000"/>
                    <a:lumOff val="40000"/>
                  </a:schemeClr>
                </a:solidFill>
                <a:highlight>
                  <a:srgbClr val="000000"/>
                </a:highlight>
              </a:rPr>
              <a:t>recognizer = </a:t>
            </a:r>
            <a:r>
              <a:rPr lang="en-IN" sz="5600" dirty="0" err="1">
                <a:solidFill>
                  <a:schemeClr val="accent2">
                    <a:lumMod val="60000"/>
                    <a:lumOff val="40000"/>
                  </a:schemeClr>
                </a:solidFill>
                <a:highlight>
                  <a:srgbClr val="000000"/>
                </a:highlight>
              </a:rPr>
              <a:t>sr.Recognizer</a:t>
            </a:r>
            <a:r>
              <a:rPr lang="en-IN" sz="5600" dirty="0">
                <a:solidFill>
                  <a:schemeClr val="accent2">
                    <a:lumMod val="60000"/>
                    <a:lumOff val="40000"/>
                  </a:schemeClr>
                </a:solidFill>
                <a:highlight>
                  <a:srgbClr val="000000"/>
                </a:highlight>
              </a:rPr>
              <a:t>()</a:t>
            </a:r>
          </a:p>
          <a:p>
            <a:pPr marL="0" indent="0">
              <a:buNone/>
            </a:pPr>
            <a:r>
              <a:rPr lang="en-IN" sz="5600" dirty="0">
                <a:solidFill>
                  <a:schemeClr val="accent2">
                    <a:lumMod val="60000"/>
                    <a:lumOff val="40000"/>
                  </a:schemeClr>
                </a:solidFill>
                <a:highlight>
                  <a:srgbClr val="000000"/>
                </a:highlight>
              </a:rPr>
              <a:t>with </a:t>
            </a:r>
            <a:r>
              <a:rPr lang="en-IN" sz="5600" dirty="0" err="1">
                <a:solidFill>
                  <a:schemeClr val="accent2">
                    <a:lumMod val="60000"/>
                    <a:lumOff val="40000"/>
                  </a:schemeClr>
                </a:solidFill>
                <a:highlight>
                  <a:srgbClr val="000000"/>
                </a:highlight>
              </a:rPr>
              <a:t>sr.Microphone</a:t>
            </a:r>
            <a:r>
              <a:rPr lang="en-IN" sz="5600" dirty="0">
                <a:solidFill>
                  <a:schemeClr val="accent2">
                    <a:lumMod val="60000"/>
                    <a:lumOff val="40000"/>
                  </a:schemeClr>
                </a:solidFill>
                <a:highlight>
                  <a:srgbClr val="000000"/>
                </a:highlight>
              </a:rPr>
              <a:t>() as source:</a:t>
            </a:r>
          </a:p>
          <a:p>
            <a:pPr marL="0" indent="0">
              <a:buNone/>
            </a:pPr>
            <a:r>
              <a:rPr lang="en-IN" sz="5600" dirty="0">
                <a:solidFill>
                  <a:schemeClr val="accent2">
                    <a:lumMod val="60000"/>
                    <a:lumOff val="40000"/>
                  </a:schemeClr>
                </a:solidFill>
                <a:highlight>
                  <a:srgbClr val="000000"/>
                </a:highlight>
              </a:rPr>
              <a:t>    print("Speak something...")</a:t>
            </a:r>
          </a:p>
          <a:p>
            <a:pPr marL="0" indent="0">
              <a:buNone/>
            </a:pPr>
            <a:r>
              <a:rPr lang="en-IN" sz="5600" dirty="0">
                <a:solidFill>
                  <a:schemeClr val="accent2">
                    <a:lumMod val="60000"/>
                    <a:lumOff val="40000"/>
                  </a:schemeClr>
                </a:solidFill>
                <a:highlight>
                  <a:srgbClr val="000000"/>
                </a:highlight>
              </a:rPr>
              <a:t>    audio = </a:t>
            </a:r>
            <a:r>
              <a:rPr lang="en-IN" sz="5600" dirty="0" err="1">
                <a:solidFill>
                  <a:schemeClr val="accent2">
                    <a:lumMod val="60000"/>
                    <a:lumOff val="40000"/>
                  </a:schemeClr>
                </a:solidFill>
                <a:highlight>
                  <a:srgbClr val="000000"/>
                </a:highlight>
              </a:rPr>
              <a:t>recognizer.listen</a:t>
            </a:r>
            <a:r>
              <a:rPr lang="en-IN" sz="5600" dirty="0">
                <a:solidFill>
                  <a:schemeClr val="accent2">
                    <a:lumMod val="60000"/>
                    <a:lumOff val="40000"/>
                  </a:schemeClr>
                </a:solidFill>
                <a:highlight>
                  <a:srgbClr val="000000"/>
                </a:highlight>
              </a:rPr>
              <a:t>(source)</a:t>
            </a:r>
          </a:p>
          <a:p>
            <a:pPr marL="0" indent="0">
              <a:buNone/>
            </a:pPr>
            <a:r>
              <a:rPr lang="en-IN" sz="5600" dirty="0">
                <a:solidFill>
                  <a:schemeClr val="accent2">
                    <a:lumMod val="60000"/>
                    <a:lumOff val="40000"/>
                  </a:schemeClr>
                </a:solidFill>
                <a:highlight>
                  <a:srgbClr val="000000"/>
                </a:highlight>
              </a:rPr>
              <a:t>Try</a:t>
            </a:r>
          </a:p>
          <a:p>
            <a:pPr marL="0" indent="0">
              <a:buNone/>
            </a:pPr>
            <a:r>
              <a:rPr lang="en-IN" sz="5600" dirty="0">
                <a:solidFill>
                  <a:schemeClr val="accent2">
                    <a:lumMod val="60000"/>
                    <a:lumOff val="40000"/>
                  </a:schemeClr>
                </a:solidFill>
                <a:highlight>
                  <a:srgbClr val="000000"/>
                </a:highlight>
              </a:rPr>
              <a:t>    </a:t>
            </a:r>
            <a:r>
              <a:rPr lang="en-IN" sz="5600" dirty="0" err="1">
                <a:solidFill>
                  <a:schemeClr val="accent2">
                    <a:lumMod val="60000"/>
                    <a:lumOff val="40000"/>
                  </a:schemeClr>
                </a:solidFill>
                <a:highlight>
                  <a:srgbClr val="000000"/>
                </a:highlight>
              </a:rPr>
              <a:t>user_input</a:t>
            </a:r>
            <a:r>
              <a:rPr lang="en-IN" sz="5600" dirty="0">
                <a:solidFill>
                  <a:schemeClr val="accent2">
                    <a:lumMod val="60000"/>
                    <a:lumOff val="40000"/>
                  </a:schemeClr>
                </a:solidFill>
                <a:highlight>
                  <a:srgbClr val="000000"/>
                </a:highlight>
              </a:rPr>
              <a:t> = </a:t>
            </a:r>
            <a:r>
              <a:rPr lang="en-IN" sz="5600" dirty="0" err="1">
                <a:solidFill>
                  <a:schemeClr val="accent2">
                    <a:lumMod val="60000"/>
                    <a:lumOff val="40000"/>
                  </a:schemeClr>
                </a:solidFill>
                <a:highlight>
                  <a:srgbClr val="000000"/>
                </a:highlight>
              </a:rPr>
              <a:t>recognizer.recognize_google</a:t>
            </a:r>
            <a:r>
              <a:rPr lang="en-IN" sz="5600" dirty="0">
                <a:solidFill>
                  <a:schemeClr val="accent2">
                    <a:lumMod val="60000"/>
                    <a:lumOff val="40000"/>
                  </a:schemeClr>
                </a:solidFill>
                <a:highlight>
                  <a:srgbClr val="000000"/>
                </a:highlight>
              </a:rPr>
              <a:t>(audio)</a:t>
            </a:r>
          </a:p>
          <a:p>
            <a:pPr marL="0" indent="0">
              <a:buNone/>
            </a:pPr>
            <a:r>
              <a:rPr lang="en-IN" sz="5600" dirty="0">
                <a:solidFill>
                  <a:schemeClr val="accent2">
                    <a:lumMod val="60000"/>
                    <a:lumOff val="40000"/>
                  </a:schemeClr>
                </a:solidFill>
                <a:highlight>
                  <a:srgbClr val="000000"/>
                </a:highlight>
              </a:rPr>
              <a:t>    print("You said:", </a:t>
            </a:r>
            <a:r>
              <a:rPr lang="en-IN" sz="5600" dirty="0" err="1">
                <a:solidFill>
                  <a:schemeClr val="accent2">
                    <a:lumMod val="60000"/>
                    <a:lumOff val="40000"/>
                  </a:schemeClr>
                </a:solidFill>
                <a:highlight>
                  <a:srgbClr val="000000"/>
                </a:highlight>
              </a:rPr>
              <a:t>user_input</a:t>
            </a:r>
            <a:r>
              <a:rPr lang="en-IN" sz="5600" dirty="0">
                <a:solidFill>
                  <a:schemeClr val="accent2">
                    <a:lumMod val="60000"/>
                    <a:lumOff val="40000"/>
                  </a:schemeClr>
                </a:solidFill>
                <a:highlight>
                  <a:srgbClr val="000000"/>
                </a:highlight>
              </a:rPr>
              <a:t>)</a:t>
            </a:r>
          </a:p>
          <a:p>
            <a:pPr marL="0" indent="0">
              <a:buNone/>
            </a:pPr>
            <a:r>
              <a:rPr lang="en-IN" sz="5600" dirty="0">
                <a:solidFill>
                  <a:schemeClr val="accent2">
                    <a:lumMod val="60000"/>
                    <a:lumOff val="40000"/>
                  </a:schemeClr>
                </a:solidFill>
                <a:highlight>
                  <a:srgbClr val="000000"/>
                </a:highlight>
              </a:rPr>
              <a:t>    # Generate response</a:t>
            </a:r>
          </a:p>
          <a:p>
            <a:pPr marL="0" indent="0">
              <a:buNone/>
            </a:pPr>
            <a:r>
              <a:rPr lang="en-IN" sz="5600" dirty="0">
                <a:solidFill>
                  <a:schemeClr val="accent2">
                    <a:lumMod val="60000"/>
                    <a:lumOff val="40000"/>
                  </a:schemeClr>
                </a:solidFill>
                <a:highlight>
                  <a:srgbClr val="000000"/>
                </a:highlight>
              </a:rPr>
              <a:t>    response = chatbot(</a:t>
            </a:r>
            <a:r>
              <a:rPr lang="en-IN" sz="5600" dirty="0" err="1">
                <a:solidFill>
                  <a:schemeClr val="accent2">
                    <a:lumMod val="60000"/>
                    <a:lumOff val="40000"/>
                  </a:schemeClr>
                </a:solidFill>
                <a:highlight>
                  <a:srgbClr val="000000"/>
                </a:highlight>
              </a:rPr>
              <a:t>user_input</a:t>
            </a:r>
            <a:r>
              <a:rPr lang="en-IN" sz="5600" dirty="0">
                <a:solidFill>
                  <a:schemeClr val="accent2">
                    <a:lumMod val="60000"/>
                    <a:lumOff val="40000"/>
                  </a:schemeClr>
                </a:solidFill>
                <a:highlight>
                  <a:srgbClr val="000000"/>
                </a:highlight>
              </a:rPr>
              <a:t>, </a:t>
            </a:r>
            <a:r>
              <a:rPr lang="en-IN" sz="5600" dirty="0" err="1">
                <a:solidFill>
                  <a:schemeClr val="accent2">
                    <a:lumMod val="60000"/>
                    <a:lumOff val="40000"/>
                  </a:schemeClr>
                </a:solidFill>
                <a:highlight>
                  <a:srgbClr val="000000"/>
                </a:highlight>
              </a:rPr>
              <a:t>max_length</a:t>
            </a:r>
            <a:r>
              <a:rPr lang="en-IN" sz="5600" dirty="0">
                <a:solidFill>
                  <a:schemeClr val="accent2">
                    <a:lumMod val="60000"/>
                    <a:lumOff val="40000"/>
                  </a:schemeClr>
                </a:solidFill>
                <a:highlight>
                  <a:srgbClr val="000000"/>
                </a:highlight>
              </a:rPr>
              <a:t>=50, </a:t>
            </a:r>
            <a:r>
              <a:rPr lang="en-IN" sz="5600" dirty="0" err="1">
                <a:solidFill>
                  <a:schemeClr val="accent2">
                    <a:lumMod val="60000"/>
                    <a:lumOff val="40000"/>
                  </a:schemeClr>
                </a:solidFill>
                <a:highlight>
                  <a:srgbClr val="000000"/>
                </a:highlight>
              </a:rPr>
              <a:t>do_sample</a:t>
            </a:r>
            <a:r>
              <a:rPr lang="en-IN" sz="5600" dirty="0">
                <a:solidFill>
                  <a:schemeClr val="accent2">
                    <a:lumMod val="60000"/>
                    <a:lumOff val="40000"/>
                  </a:schemeClr>
                </a:solidFill>
                <a:highlight>
                  <a:srgbClr val="000000"/>
                </a:highlight>
              </a:rPr>
              <a:t>=True)</a:t>
            </a:r>
          </a:p>
          <a:p>
            <a:pPr marL="0" indent="0">
              <a:buNone/>
            </a:pPr>
            <a:r>
              <a:rPr lang="en-IN" sz="5600" dirty="0">
                <a:solidFill>
                  <a:schemeClr val="accent2">
                    <a:lumMod val="60000"/>
                    <a:lumOff val="40000"/>
                  </a:schemeClr>
                </a:solidFill>
                <a:highlight>
                  <a:srgbClr val="000000"/>
                </a:highlight>
              </a:rPr>
              <a:t>    reply = response[0]['</a:t>
            </a:r>
            <a:r>
              <a:rPr lang="en-IN" sz="5600" dirty="0" err="1">
                <a:solidFill>
                  <a:schemeClr val="accent2">
                    <a:lumMod val="60000"/>
                    <a:lumOff val="40000"/>
                  </a:schemeClr>
                </a:solidFill>
                <a:highlight>
                  <a:srgbClr val="000000"/>
                </a:highlight>
              </a:rPr>
              <a:t>generated_text</a:t>
            </a:r>
            <a:r>
              <a:rPr lang="en-IN" sz="5600" dirty="0">
                <a:solidFill>
                  <a:schemeClr val="accent2">
                    <a:lumMod val="60000"/>
                    <a:lumOff val="40000"/>
                  </a:schemeClr>
                </a:solidFill>
                <a:highlight>
                  <a:srgbClr val="000000"/>
                </a:highlight>
              </a:rPr>
              <a:t>']</a:t>
            </a:r>
          </a:p>
          <a:p>
            <a:pPr marL="0" indent="0">
              <a:buNone/>
            </a:pPr>
            <a:r>
              <a:rPr lang="en-IN" sz="5600" dirty="0">
                <a:solidFill>
                  <a:schemeClr val="accent2">
                    <a:lumMod val="60000"/>
                    <a:lumOff val="40000"/>
                  </a:schemeClr>
                </a:solidFill>
                <a:highlight>
                  <a:srgbClr val="000000"/>
                </a:highlight>
              </a:rPr>
              <a:t>    print("Artery:", reply)</a:t>
            </a:r>
          </a:p>
          <a:p>
            <a:pPr marL="0" indent="0">
              <a:buNone/>
            </a:pPr>
            <a:r>
              <a:rPr lang="en-IN" sz="5600" dirty="0">
                <a:solidFill>
                  <a:schemeClr val="accent2">
                    <a:lumMod val="60000"/>
                    <a:lumOff val="40000"/>
                  </a:schemeClr>
                </a:solidFill>
                <a:highlight>
                  <a:srgbClr val="000000"/>
                </a:highlight>
              </a:rPr>
              <a:t>     # Speak response</a:t>
            </a:r>
          </a:p>
          <a:p>
            <a:pPr marL="0" indent="0">
              <a:buNone/>
            </a:pPr>
            <a:r>
              <a:rPr lang="en-IN" sz="5600" dirty="0">
                <a:solidFill>
                  <a:schemeClr val="accent2">
                    <a:lumMod val="60000"/>
                    <a:lumOff val="40000"/>
                  </a:schemeClr>
                </a:solidFill>
                <a:highlight>
                  <a:srgbClr val="000000"/>
                </a:highlight>
              </a:rPr>
              <a:t>    </a:t>
            </a:r>
            <a:r>
              <a:rPr lang="en-IN" sz="5600" dirty="0" err="1">
                <a:solidFill>
                  <a:schemeClr val="accent2">
                    <a:lumMod val="60000"/>
                    <a:lumOff val="40000"/>
                  </a:schemeClr>
                </a:solidFill>
                <a:highlight>
                  <a:srgbClr val="000000"/>
                </a:highlight>
              </a:rPr>
              <a:t>engine.say</a:t>
            </a:r>
            <a:r>
              <a:rPr lang="en-IN" sz="5600" dirty="0">
                <a:solidFill>
                  <a:schemeClr val="accent2">
                    <a:lumMod val="60000"/>
                    <a:lumOff val="40000"/>
                  </a:schemeClr>
                </a:solidFill>
                <a:highlight>
                  <a:srgbClr val="000000"/>
                </a:highlight>
              </a:rPr>
              <a:t>(reply)</a:t>
            </a:r>
          </a:p>
          <a:p>
            <a:pPr marL="0" indent="0">
              <a:buNone/>
            </a:pPr>
            <a:r>
              <a:rPr lang="en-IN" sz="5600" dirty="0">
                <a:solidFill>
                  <a:schemeClr val="accent2">
                    <a:lumMod val="60000"/>
                    <a:lumOff val="40000"/>
                  </a:schemeClr>
                </a:solidFill>
                <a:highlight>
                  <a:srgbClr val="000000"/>
                </a:highlight>
              </a:rPr>
              <a:t>    </a:t>
            </a:r>
            <a:r>
              <a:rPr lang="en-IN" sz="5600" dirty="0" err="1">
                <a:solidFill>
                  <a:schemeClr val="accent2">
                    <a:lumMod val="60000"/>
                    <a:lumOff val="40000"/>
                  </a:schemeClr>
                </a:solidFill>
                <a:highlight>
                  <a:srgbClr val="000000"/>
                </a:highlight>
              </a:rPr>
              <a:t>engine.runAndWait</a:t>
            </a:r>
            <a:r>
              <a:rPr lang="en-IN" sz="5600" dirty="0">
                <a:solidFill>
                  <a:schemeClr val="accent2">
                    <a:lumMod val="60000"/>
                    <a:lumOff val="40000"/>
                  </a:schemeClr>
                </a:solidFill>
                <a:highlight>
                  <a:srgbClr val="000000"/>
                </a:highlight>
              </a:rPr>
              <a:t>()</a:t>
            </a:r>
          </a:p>
          <a:p>
            <a:pPr marL="0" indent="0">
              <a:buNone/>
            </a:pPr>
            <a:r>
              <a:rPr lang="en-IN" sz="5600" dirty="0">
                <a:solidFill>
                  <a:schemeClr val="accent2">
                    <a:lumMod val="60000"/>
                    <a:lumOff val="40000"/>
                  </a:schemeClr>
                </a:solidFill>
                <a:highlight>
                  <a:srgbClr val="000000"/>
                </a:highlight>
              </a:rPr>
              <a:t>except:</a:t>
            </a:r>
          </a:p>
          <a:p>
            <a:pPr marL="0" indent="0">
              <a:buNone/>
            </a:pPr>
            <a:r>
              <a:rPr lang="en-IN" sz="5600" dirty="0">
                <a:solidFill>
                  <a:schemeClr val="accent2">
                    <a:lumMod val="60000"/>
                    <a:lumOff val="40000"/>
                  </a:schemeClr>
                </a:solidFill>
                <a:highlight>
                  <a:srgbClr val="000000"/>
                </a:highlight>
              </a:rPr>
              <a:t>    print("Sorry, I didn’t catch that.")</a:t>
            </a:r>
          </a:p>
          <a:p>
            <a:pPr marL="0" indent="0">
              <a:buNone/>
            </a:pPr>
            <a:endParaRPr lang="en-IN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5" name="Picture 4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0A9AA04F-9715-38F3-0999-CE84D1FEDA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0656" y="618733"/>
            <a:ext cx="5406012" cy="6083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49236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0BED4B-5C10-E942-4D20-3A674240A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0472" y="271305"/>
            <a:ext cx="10515600" cy="212097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002060"/>
                </a:solidFill>
                <a:latin typeface="Algerian" panose="04020705040A02060702" pitchFamily="82" charset="0"/>
              </a:rPr>
              <a:t>Voice Assistant Module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7A6E4D-4514-528C-F45D-79A80BB920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58402" y="762549"/>
            <a:ext cx="10515600" cy="5332901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/>
              <a:t>The </a:t>
            </a:r>
            <a:r>
              <a:rPr lang="en-US" sz="2000" b="1" dirty="0"/>
              <a:t>Voice Assistant Module</a:t>
            </a:r>
            <a:r>
              <a:rPr lang="en-US" sz="2000" dirty="0"/>
              <a:t> extends Artery’s ability to:</a:t>
            </a:r>
          </a:p>
          <a:p>
            <a:r>
              <a:rPr lang="en-US" sz="2000" dirty="0"/>
              <a:t>Reply to </a:t>
            </a:r>
            <a:r>
              <a:rPr lang="en-US" sz="2000" b="1" dirty="0"/>
              <a:t>calls &amp; SMS</a:t>
            </a:r>
            <a:r>
              <a:rPr lang="en-US" sz="2000" dirty="0"/>
              <a:t>.</a:t>
            </a:r>
          </a:p>
          <a:p>
            <a:r>
              <a:rPr lang="en-US" sz="2000" dirty="0"/>
              <a:t>Perform </a:t>
            </a:r>
            <a:r>
              <a:rPr lang="en-US" sz="2000" b="1" dirty="0"/>
              <a:t>task automation</a:t>
            </a:r>
            <a:r>
              <a:rPr lang="en-US" sz="2000" dirty="0"/>
              <a:t> (open apps, set reminders, send emails).</a:t>
            </a:r>
          </a:p>
          <a:p>
            <a:r>
              <a:rPr lang="en-US" sz="2000" dirty="0"/>
              <a:t>Control devices using </a:t>
            </a:r>
            <a:r>
              <a:rPr lang="en-US" sz="2000" b="1" dirty="0"/>
              <a:t>voice commands</a:t>
            </a:r>
            <a:r>
              <a:rPr lang="en-US" sz="2000" dirty="0"/>
              <a:t>.</a:t>
            </a:r>
          </a:p>
          <a:p>
            <a:r>
              <a:rPr lang="en-US" sz="2000" dirty="0"/>
              <a:t>Integrate with IoT devices (future upgrade).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002060"/>
                </a:solidFill>
                <a:latin typeface="Algerian" panose="04020705040A02060702" pitchFamily="82" charset="0"/>
              </a:rPr>
              <a:t>        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002060"/>
                </a:solidFill>
                <a:latin typeface="Algerian" panose="04020705040A02060702" pitchFamily="82" charset="0"/>
              </a:rPr>
              <a:t>             </a:t>
            </a:r>
            <a:r>
              <a:rPr lang="en-IN" sz="3600" b="1" dirty="0">
                <a:solidFill>
                  <a:srgbClr val="002060"/>
                </a:solidFill>
                <a:latin typeface="Algerian" panose="04020705040A02060702" pitchFamily="82" charset="0"/>
              </a:rPr>
              <a:t>🔄 Block Diagram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7" name="Picture 6" descr="A computer screen shot of a program&#10;&#10;AI-generated content may be incorrect.">
            <a:extLst>
              <a:ext uri="{FF2B5EF4-FFF2-40B4-BE49-F238E27FC236}">
                <a16:creationId xmlns:a16="http://schemas.microsoft.com/office/drawing/2014/main" id="{5222A525-D05B-0C1E-80E2-EF8DFABC8A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8374" y="3750530"/>
            <a:ext cx="4471515" cy="2836165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912B0FC-526C-3C54-7209-AB3D8E272C7F}"/>
              </a:ext>
            </a:extLst>
          </p:cNvPr>
          <p:cNvSpPr/>
          <p:nvPr/>
        </p:nvSpPr>
        <p:spPr>
          <a:xfrm>
            <a:off x="994787" y="6114"/>
            <a:ext cx="10369899" cy="283616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7CABAF7-936B-8B55-67CB-CE072A257981}"/>
              </a:ext>
            </a:extLst>
          </p:cNvPr>
          <p:cNvSpPr/>
          <p:nvPr/>
        </p:nvSpPr>
        <p:spPr>
          <a:xfrm>
            <a:off x="994786" y="2822497"/>
            <a:ext cx="10369899" cy="402938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42709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C4B4F-BC45-A9B0-08F0-23E7F35197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11175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002060"/>
                </a:solidFill>
                <a:latin typeface="Algerian" panose="04020705040A02060702" pitchFamily="82" charset="0"/>
              </a:rPr>
              <a:t>⚙️ Define Working</a:t>
            </a:r>
            <a:r>
              <a:rPr lang="en-IN" b="1" dirty="0"/>
              <a:t>:</a:t>
            </a:r>
            <a:br>
              <a:rPr lang="en-IN" b="1" dirty="0"/>
            </a:b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BE2663E-F6C2-B4DF-5E2C-71B268B5D8F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628348" y="925006"/>
            <a:ext cx="9344263" cy="4548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Speech-to-Text (STT):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Converts user speech → text.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NLP Engine: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Detects intent (call, message, open app, reminder).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Task Executor: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Uses APIs &amp; system libraries to perform the action.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Text-to-Speech (TTS):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Confirms action back to user.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IN" sz="3600" b="1" dirty="0">
              <a:solidFill>
                <a:srgbClr val="002060"/>
              </a:solidFill>
              <a:latin typeface="Algerian" panose="04020705040A02060702" pitchFamily="8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IN" sz="3600" b="1" dirty="0">
              <a:solidFill>
                <a:srgbClr val="002060"/>
              </a:solidFill>
              <a:latin typeface="Algerian" panose="04020705040A02060702" pitchFamily="8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IN" sz="3600" b="1" dirty="0">
                <a:solidFill>
                  <a:srgbClr val="002060"/>
                </a:solidFill>
                <a:latin typeface="Algerian" panose="04020705040A02060702" pitchFamily="82" charset="0"/>
              </a:rPr>
              <a:t>🎥 Tutorial URLs:</a:t>
            </a:r>
          </a:p>
          <a:p>
            <a:r>
              <a:rPr lang="en-IN" sz="1800" b="1" dirty="0"/>
              <a:t>Basic Jarvis Assistant:</a:t>
            </a:r>
            <a:r>
              <a:rPr lang="en-IN" sz="1800" dirty="0"/>
              <a:t> </a:t>
            </a:r>
            <a:r>
              <a:rPr lang="en-IN" sz="1800" dirty="0">
                <a:hlinkClick r:id="rId2"/>
              </a:rPr>
              <a:t>YouTube</a:t>
            </a:r>
            <a:endParaRPr lang="en-IN" sz="1800" dirty="0"/>
          </a:p>
          <a:p>
            <a:r>
              <a:rPr lang="en-IN" sz="1800" b="1" dirty="0"/>
              <a:t>WhatsApp Automation:</a:t>
            </a:r>
            <a:r>
              <a:rPr lang="en-IN" sz="1800" dirty="0"/>
              <a:t> </a:t>
            </a:r>
            <a:r>
              <a:rPr lang="en-IN" sz="1800" dirty="0" err="1">
                <a:hlinkClick r:id="rId3"/>
              </a:rPr>
              <a:t>PyWhatKit</a:t>
            </a:r>
            <a:r>
              <a:rPr lang="en-IN" sz="1800" dirty="0">
                <a:hlinkClick r:id="rId3"/>
              </a:rPr>
              <a:t> Docs</a:t>
            </a:r>
            <a:endParaRPr lang="en-IN" sz="1800" dirty="0"/>
          </a:p>
          <a:p>
            <a:r>
              <a:rPr lang="en-IN" sz="1800" b="1" dirty="0"/>
              <a:t>Voice Assistant with Python:</a:t>
            </a:r>
            <a:r>
              <a:rPr lang="en-IN" sz="1800" dirty="0"/>
              <a:t> </a:t>
            </a:r>
            <a:r>
              <a:rPr lang="en-IN" sz="1800" dirty="0">
                <a:hlinkClick r:id="rId4"/>
              </a:rPr>
              <a:t>YouTube</a:t>
            </a:r>
            <a:endParaRPr lang="en-IN" sz="18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F9633B1-4583-B4F4-893F-EF85619845E6}"/>
              </a:ext>
            </a:extLst>
          </p:cNvPr>
          <p:cNvSpPr/>
          <p:nvPr/>
        </p:nvSpPr>
        <p:spPr>
          <a:xfrm>
            <a:off x="1457011" y="70338"/>
            <a:ext cx="9896789" cy="2401557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C739562-EDB4-33E2-A5D0-DC7722C2EBEA}"/>
              </a:ext>
            </a:extLst>
          </p:cNvPr>
          <p:cNvSpPr/>
          <p:nvPr/>
        </p:nvSpPr>
        <p:spPr>
          <a:xfrm>
            <a:off x="1659835" y="3110948"/>
            <a:ext cx="9551504" cy="3217664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94912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98673-F25A-5FCA-0094-D24E2014F6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39775"/>
          </a:xfrm>
        </p:spPr>
        <p:txBody>
          <a:bodyPr/>
          <a:lstStyle/>
          <a:p>
            <a:pPr algn="ctr"/>
            <a:r>
              <a:rPr lang="en-IN" b="1" dirty="0">
                <a:solidFill>
                  <a:srgbClr val="002060"/>
                </a:solidFill>
                <a:latin typeface="Algerian" panose="04020705040A02060702" pitchFamily="82" charset="0"/>
              </a:rPr>
              <a:t>💻 Example Code Snippet: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86EF432-F783-5D3F-97F4-1D52E58885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74842" y="1104900"/>
            <a:ext cx="7354957" cy="57531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94EB0A4-9790-C84E-6536-4063E8D72CD9}"/>
              </a:ext>
            </a:extLst>
          </p:cNvPr>
          <p:cNvSpPr/>
          <p:nvPr/>
        </p:nvSpPr>
        <p:spPr>
          <a:xfrm>
            <a:off x="2097157" y="188843"/>
            <a:ext cx="8160026" cy="666915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32063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96D890-BE04-B467-E827-64915B4A3B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38147"/>
            <a:ext cx="10795000" cy="638175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002060"/>
                </a:solidFill>
                <a:latin typeface="Algerian" panose="04020705040A02060702" pitchFamily="82" charset="0"/>
              </a:rPr>
              <a:t>Emotion Recognition Module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5A8BC0-34D6-0B15-375A-AEDB7E8653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9300" y="1192211"/>
            <a:ext cx="10515600" cy="5616575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The Emotion Recognition Module gives Artery the ability to understand human emotions through:</a:t>
            </a:r>
          </a:p>
          <a:p>
            <a:r>
              <a:rPr lang="en-US" sz="2000" b="1" dirty="0"/>
              <a:t>Facial expressions</a:t>
            </a:r>
            <a:r>
              <a:rPr lang="en-US" sz="2000" dirty="0"/>
              <a:t> (smile, anger, sadness).</a:t>
            </a:r>
          </a:p>
          <a:p>
            <a:r>
              <a:rPr lang="en-US" sz="2000" b="1" dirty="0"/>
              <a:t>Voice tone analysis</a:t>
            </a:r>
            <a:r>
              <a:rPr lang="en-US" sz="2000" dirty="0"/>
              <a:t> (happy, stressed, calm).</a:t>
            </a:r>
          </a:p>
          <a:p>
            <a:r>
              <a:rPr lang="en-US" sz="2000" b="1" dirty="0"/>
              <a:t>Speech patterns / way of talking</a:t>
            </a:r>
            <a:r>
              <a:rPr lang="en-US" sz="2000" dirty="0"/>
              <a:t> (fast, slow, hesitation).</a:t>
            </a:r>
          </a:p>
          <a:p>
            <a:r>
              <a:rPr lang="en-US" sz="2000" dirty="0"/>
              <a:t>Adapts responses accordingly → makes Artery </a:t>
            </a:r>
            <a:r>
              <a:rPr lang="en-US" sz="2000" b="1" dirty="0"/>
              <a:t>human-like</a:t>
            </a:r>
            <a:r>
              <a:rPr lang="en-US" dirty="0"/>
              <a:t>.</a:t>
            </a:r>
          </a:p>
          <a:p>
            <a:pPr marL="0" indent="0" algn="ctr">
              <a:buNone/>
            </a:pPr>
            <a:r>
              <a:rPr lang="en-IN" sz="3200" b="1" dirty="0">
                <a:solidFill>
                  <a:srgbClr val="002060"/>
                </a:solidFill>
                <a:latin typeface="Algerian" panose="04020705040A02060702" pitchFamily="82" charset="0"/>
              </a:rPr>
              <a:t>🔄 Block Diagram:</a:t>
            </a:r>
          </a:p>
        </p:txBody>
      </p:sp>
      <p:pic>
        <p:nvPicPr>
          <p:cNvPr id="5" name="Picture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50E2634E-D4C3-4DF6-6DD4-15192B1792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7049" y="4343400"/>
            <a:ext cx="8597901" cy="2362201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958B0B0-0953-9ECE-7D00-9F3E1D8DC92D}"/>
              </a:ext>
            </a:extLst>
          </p:cNvPr>
          <p:cNvSpPr/>
          <p:nvPr/>
        </p:nvSpPr>
        <p:spPr>
          <a:xfrm>
            <a:off x="347870" y="228600"/>
            <a:ext cx="11234530" cy="3468757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A80FF5A-5DAD-1722-CA18-F145AF5C8D2A}"/>
              </a:ext>
            </a:extLst>
          </p:cNvPr>
          <p:cNvSpPr/>
          <p:nvPr/>
        </p:nvSpPr>
        <p:spPr>
          <a:xfrm>
            <a:off x="609600" y="3806687"/>
            <a:ext cx="11118574" cy="311798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07403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D3080F-00E8-844D-91B9-6A0ABF47B3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769145"/>
          </a:xfrm>
        </p:spPr>
        <p:txBody>
          <a:bodyPr/>
          <a:lstStyle/>
          <a:p>
            <a:pPr algn="ctr"/>
            <a:r>
              <a:rPr lang="en-IN" b="1" dirty="0">
                <a:solidFill>
                  <a:srgbClr val="002060"/>
                </a:solidFill>
                <a:latin typeface="Algerian" panose="04020705040A02060702" pitchFamily="82" charset="0"/>
              </a:rPr>
              <a:t>⚙️ Define Working: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9DD32E-20A1-0D68-2E1B-FF78E253C0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87400"/>
            <a:ext cx="10515600" cy="6052345"/>
          </a:xfrm>
        </p:spPr>
        <p:txBody>
          <a:bodyPr/>
          <a:lstStyle/>
          <a:p>
            <a:r>
              <a:rPr lang="en-US" sz="2000" b="1" dirty="0"/>
              <a:t>Face Emotion Detection</a:t>
            </a:r>
            <a:r>
              <a:rPr lang="en-US" sz="2000" dirty="0"/>
              <a:t> – Uses OpenCV + Deep Learning to classify expressions.</a:t>
            </a:r>
          </a:p>
          <a:p>
            <a:r>
              <a:rPr lang="en-US" sz="2000" b="1" dirty="0"/>
              <a:t>Voice Emotion Detection</a:t>
            </a:r>
            <a:r>
              <a:rPr lang="en-US" sz="2000" dirty="0"/>
              <a:t> – Analyzes pitch, tone, intensity.</a:t>
            </a:r>
          </a:p>
          <a:p>
            <a:r>
              <a:rPr lang="en-US" sz="2000" b="1" dirty="0"/>
              <a:t>Talking Style</a:t>
            </a:r>
            <a:r>
              <a:rPr lang="en-US" sz="2000" dirty="0"/>
              <a:t> – Detects hesitation, stress, confidence via speech analysis.</a:t>
            </a:r>
          </a:p>
          <a:p>
            <a:r>
              <a:rPr lang="en-US" sz="2000" b="1" dirty="0"/>
              <a:t>Response Adjustment</a:t>
            </a:r>
            <a:r>
              <a:rPr lang="en-US" sz="2000" dirty="0"/>
              <a:t> – Artery changes tone/response depending on detected emotion.</a:t>
            </a:r>
          </a:p>
          <a:p>
            <a:pPr marL="0" indent="0" algn="ctr">
              <a:buNone/>
            </a:pPr>
            <a:endParaRPr lang="en-IN" sz="3600" b="1" dirty="0">
              <a:solidFill>
                <a:srgbClr val="002060"/>
              </a:solidFill>
              <a:latin typeface="Algerian" panose="04020705040A02060702" pitchFamily="82" charset="0"/>
            </a:endParaRPr>
          </a:p>
          <a:p>
            <a:pPr marL="0" indent="0" algn="ctr">
              <a:buNone/>
            </a:pPr>
            <a:endParaRPr lang="en-IN" sz="3600" b="1" dirty="0">
              <a:solidFill>
                <a:srgbClr val="002060"/>
              </a:solidFill>
              <a:latin typeface="Algerian" panose="04020705040A02060702" pitchFamily="82" charset="0"/>
            </a:endParaRPr>
          </a:p>
          <a:p>
            <a:pPr marL="0" indent="0" algn="ctr">
              <a:buNone/>
            </a:pPr>
            <a:r>
              <a:rPr lang="en-IN" sz="3600" b="1" dirty="0">
                <a:solidFill>
                  <a:srgbClr val="002060"/>
                </a:solidFill>
                <a:latin typeface="Algerian" panose="04020705040A02060702" pitchFamily="82" charset="0"/>
              </a:rPr>
              <a:t>🎥 Tutorial URLs:</a:t>
            </a:r>
          </a:p>
          <a:p>
            <a:r>
              <a:rPr lang="en-IN" b="1" dirty="0"/>
              <a:t>Facial Emotion Recognition with </a:t>
            </a:r>
            <a:r>
              <a:rPr lang="en-IN" b="1" dirty="0" err="1"/>
              <a:t>DeepFace</a:t>
            </a:r>
            <a:r>
              <a:rPr lang="en-IN" b="1" dirty="0"/>
              <a:t>:</a:t>
            </a:r>
            <a:r>
              <a:rPr lang="en-IN" dirty="0"/>
              <a:t> </a:t>
            </a:r>
            <a:r>
              <a:rPr lang="en-IN" dirty="0">
                <a:hlinkClick r:id="rId2"/>
              </a:rPr>
              <a:t>YouTube</a:t>
            </a:r>
            <a:endParaRPr lang="en-IN" dirty="0"/>
          </a:p>
          <a:p>
            <a:r>
              <a:rPr lang="en-IN" b="1" dirty="0"/>
              <a:t>Voice Emotion Recognition with Python:</a:t>
            </a:r>
            <a:r>
              <a:rPr lang="en-IN" dirty="0"/>
              <a:t> </a:t>
            </a:r>
            <a:r>
              <a:rPr lang="en-IN" dirty="0">
                <a:hlinkClick r:id="rId3"/>
              </a:rPr>
              <a:t>YouTube</a:t>
            </a:r>
            <a:endParaRPr lang="en-IN" dirty="0"/>
          </a:p>
          <a:p>
            <a:r>
              <a:rPr lang="en-IN" b="1" dirty="0"/>
              <a:t>Speech Emotion Recognition Dataset (RAVDESS):</a:t>
            </a:r>
            <a:r>
              <a:rPr lang="en-IN" dirty="0"/>
              <a:t> Kaggle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0A170E7-D6A0-0F62-1006-78AA247494F9}"/>
              </a:ext>
            </a:extLst>
          </p:cNvPr>
          <p:cNvSpPr/>
          <p:nvPr/>
        </p:nvSpPr>
        <p:spPr>
          <a:xfrm>
            <a:off x="487017" y="18255"/>
            <a:ext cx="11439940" cy="237707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66B7354-C6CE-0DE1-797B-A40F52174B57}"/>
              </a:ext>
            </a:extLst>
          </p:cNvPr>
          <p:cNvSpPr/>
          <p:nvPr/>
        </p:nvSpPr>
        <p:spPr>
          <a:xfrm>
            <a:off x="626165" y="3627783"/>
            <a:ext cx="11161644" cy="276307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26019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B3F3EE-BC24-39D3-D372-F707C295A2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100" y="250826"/>
            <a:ext cx="11671300" cy="981075"/>
          </a:xfrm>
        </p:spPr>
        <p:txBody>
          <a:bodyPr>
            <a:normAutofit/>
          </a:bodyPr>
          <a:lstStyle/>
          <a:p>
            <a:pPr algn="ctr"/>
            <a:r>
              <a:rPr lang="en-IN" sz="3200" dirty="0">
                <a:solidFill>
                  <a:srgbClr val="002060"/>
                </a:solidFill>
                <a:latin typeface="Algerian" panose="04020705040A02060702" pitchFamily="82" charset="0"/>
              </a:rPr>
              <a:t>💻 Example Code Snippet (Face Emotion Recognition):</a:t>
            </a:r>
          </a:p>
        </p:txBody>
      </p:sp>
      <p:pic>
        <p:nvPicPr>
          <p:cNvPr id="5" name="Content Placeholder 4" descr="A computer screen shot of a program code&#10;&#10;AI-generated content may be incorrect.">
            <a:extLst>
              <a:ext uri="{FF2B5EF4-FFF2-40B4-BE49-F238E27FC236}">
                <a16:creationId xmlns:a16="http://schemas.microsoft.com/office/drawing/2014/main" id="{615DD928-07B8-732E-9A2A-95A4D1176F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7188" y="1361108"/>
            <a:ext cx="6115342" cy="5032375"/>
          </a:xfr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8108B58-4912-258B-F1F9-94FA8A9AD749}"/>
              </a:ext>
            </a:extLst>
          </p:cNvPr>
          <p:cNvSpPr/>
          <p:nvPr/>
        </p:nvSpPr>
        <p:spPr>
          <a:xfrm>
            <a:off x="260350" y="0"/>
            <a:ext cx="11671300" cy="666301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20951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A7AE8-369A-BB11-0685-BB832F3850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65101"/>
            <a:ext cx="10591800" cy="876299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002060"/>
                </a:solidFill>
                <a:latin typeface="Algerian" panose="04020705040A02060702" pitchFamily="82" charset="0"/>
              </a:rPr>
              <a:t>Security &amp; System Monitoring Module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2A3AB2-6D1E-3308-4D8C-177B6783AE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0909" y="942009"/>
            <a:ext cx="11493500" cy="5651499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/>
              <a:t>The </a:t>
            </a:r>
            <a:r>
              <a:rPr lang="en-US" sz="2000" b="1" dirty="0"/>
              <a:t>Security &amp; Monitoring Module</a:t>
            </a:r>
            <a:r>
              <a:rPr lang="en-US" sz="2000" dirty="0"/>
              <a:t> ensures </a:t>
            </a:r>
            <a:r>
              <a:rPr lang="en-US" sz="2000" b="1" dirty="0"/>
              <a:t>real-time protection</a:t>
            </a:r>
            <a:r>
              <a:rPr lang="en-US" sz="2000" dirty="0"/>
              <a:t> of both system and user data.</a:t>
            </a:r>
          </a:p>
          <a:p>
            <a:r>
              <a:rPr lang="en-US" sz="2000" dirty="0"/>
              <a:t>Detects </a:t>
            </a:r>
            <a:r>
              <a:rPr lang="en-US" sz="2000" b="1" dirty="0"/>
              <a:t>viruses, malware, ransomware</a:t>
            </a:r>
            <a:r>
              <a:rPr lang="en-US" sz="2000" dirty="0"/>
              <a:t>.</a:t>
            </a:r>
          </a:p>
          <a:p>
            <a:r>
              <a:rPr lang="en-US" sz="2000" dirty="0"/>
              <a:t>Monitors </a:t>
            </a:r>
            <a:r>
              <a:rPr lang="en-US" sz="2000" b="1" dirty="0"/>
              <a:t>CPU, RAM, GPU usage</a:t>
            </a:r>
            <a:r>
              <a:rPr lang="en-US" sz="2000" dirty="0"/>
              <a:t>.</a:t>
            </a:r>
          </a:p>
          <a:p>
            <a:r>
              <a:rPr lang="en-US" sz="2000" dirty="0"/>
              <a:t>Alerts user in case of suspicious activity.</a:t>
            </a:r>
          </a:p>
          <a:p>
            <a:r>
              <a:rPr lang="en-US" sz="2000" dirty="0"/>
              <a:t>Acts as a </a:t>
            </a:r>
            <a:r>
              <a:rPr lang="en-US" sz="2000" b="1" dirty="0"/>
              <a:t>guardian assistant</a:t>
            </a:r>
            <a:r>
              <a:rPr lang="en-US" sz="2000" dirty="0"/>
              <a:t> for system health &amp; security.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002060"/>
                </a:solidFill>
                <a:latin typeface="Algerian" panose="04020705040A02060702" pitchFamily="82" charset="0"/>
              </a:rPr>
              <a:t>                                              </a:t>
            </a:r>
            <a:r>
              <a:rPr lang="en-IN" sz="3600" b="1" dirty="0">
                <a:solidFill>
                  <a:srgbClr val="002060"/>
                </a:solidFill>
                <a:latin typeface="Algerian" panose="04020705040A02060702" pitchFamily="82" charset="0"/>
              </a:rPr>
              <a:t>🔄 Block Diagram: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74D8EBF2-56C2-9FD7-2FC4-FDFC8ED3E0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3180" y="3748709"/>
            <a:ext cx="3810000" cy="2844799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CA1EB22-7AA6-682C-2EF8-F5D5A55E1238}"/>
              </a:ext>
            </a:extLst>
          </p:cNvPr>
          <p:cNvSpPr/>
          <p:nvPr/>
        </p:nvSpPr>
        <p:spPr>
          <a:xfrm>
            <a:off x="301451" y="165101"/>
            <a:ext cx="11493500" cy="268863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DFA2BDE-F04A-ED5D-B982-7805F1C4170E}"/>
              </a:ext>
            </a:extLst>
          </p:cNvPr>
          <p:cNvSpPr/>
          <p:nvPr/>
        </p:nvSpPr>
        <p:spPr>
          <a:xfrm>
            <a:off x="592853" y="3014505"/>
            <a:ext cx="11113477" cy="367839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65354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F6B36-E9DC-7786-19EF-E2D07635B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681036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002060"/>
                </a:solidFill>
                <a:latin typeface="Algerian" panose="04020705040A02060702" pitchFamily="82" charset="0"/>
              </a:rPr>
              <a:t>⚙️ Define Working: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8E76F2-3A6D-B9E9-2E0C-0FA720D30D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8738" y="774700"/>
            <a:ext cx="10251661" cy="5930900"/>
          </a:xfrm>
        </p:spPr>
        <p:txBody>
          <a:bodyPr/>
          <a:lstStyle/>
          <a:p>
            <a:pPr marL="0" indent="0">
              <a:buNone/>
            </a:pPr>
            <a:r>
              <a:rPr lang="en-IN" sz="2400" b="1" dirty="0"/>
              <a:t>File &amp; Process Scanning</a:t>
            </a:r>
            <a:r>
              <a:rPr lang="en-IN" sz="2400" dirty="0"/>
              <a:t> – Uses ML models or </a:t>
            </a:r>
            <a:r>
              <a:rPr lang="en-IN" sz="2400" dirty="0" err="1"/>
              <a:t>VirusTotal</a:t>
            </a:r>
            <a:r>
              <a:rPr lang="en-IN" sz="2400" dirty="0"/>
              <a:t> API to detect suspicious files.</a:t>
            </a:r>
          </a:p>
          <a:p>
            <a:pPr marL="0" indent="0">
              <a:buNone/>
            </a:pPr>
            <a:r>
              <a:rPr lang="en-IN" sz="2400" b="1" dirty="0"/>
              <a:t>Network Monitoring</a:t>
            </a:r>
            <a:r>
              <a:rPr lang="en-IN" sz="2400" dirty="0"/>
              <a:t> – Tracks unusual traffic or data exfiltration.</a:t>
            </a:r>
          </a:p>
          <a:p>
            <a:pPr marL="0" indent="0">
              <a:buNone/>
            </a:pPr>
            <a:r>
              <a:rPr lang="en-IN" sz="2400" b="1" dirty="0"/>
              <a:t>System Resource Tracking</a:t>
            </a:r>
            <a:r>
              <a:rPr lang="en-IN" sz="2400" dirty="0"/>
              <a:t> – Displays live CPU, RAM, GPU stats.</a:t>
            </a:r>
          </a:p>
          <a:p>
            <a:pPr marL="0" indent="0">
              <a:buNone/>
            </a:pPr>
            <a:r>
              <a:rPr lang="en-IN" sz="2400" b="1" dirty="0"/>
              <a:t>Real-Time Alerts</a:t>
            </a:r>
            <a:r>
              <a:rPr lang="en-IN" sz="2400" dirty="0"/>
              <a:t> – Notifies user with warning &amp; possible fix.</a:t>
            </a:r>
          </a:p>
          <a:p>
            <a:pPr marL="0" indent="0">
              <a:buNone/>
            </a:pPr>
            <a:endParaRPr lang="en-IN" dirty="0"/>
          </a:p>
          <a:p>
            <a:pPr marL="0" indent="0" algn="ctr">
              <a:buNone/>
            </a:pPr>
            <a:r>
              <a:rPr lang="en-IN" sz="3600" b="1" dirty="0">
                <a:solidFill>
                  <a:srgbClr val="002060"/>
                </a:solidFill>
                <a:latin typeface="Algerian" panose="04020705040A02060702" pitchFamily="82" charset="0"/>
              </a:rPr>
              <a:t>🎥 Tutorial URLs:</a:t>
            </a:r>
          </a:p>
          <a:p>
            <a:pPr marL="0" indent="0">
              <a:buNone/>
            </a:pPr>
            <a:r>
              <a:rPr lang="en-IN" dirty="0"/>
              <a:t>1.System Monitoring with Python (</a:t>
            </a:r>
            <a:r>
              <a:rPr lang="en-IN" dirty="0" err="1"/>
              <a:t>psutil</a:t>
            </a:r>
            <a:r>
              <a:rPr lang="en-IN" dirty="0"/>
              <a:t>): YouTube</a:t>
            </a:r>
          </a:p>
          <a:p>
            <a:pPr marL="0" indent="0">
              <a:buNone/>
            </a:pPr>
            <a:r>
              <a:rPr lang="en-IN" dirty="0"/>
              <a:t>2.VirusTotal API Tutorial: YouTube</a:t>
            </a:r>
          </a:p>
          <a:p>
            <a:pPr marL="0" indent="0">
              <a:buNone/>
            </a:pPr>
            <a:r>
              <a:rPr lang="en-IN" dirty="0"/>
              <a:t>3.Python Security Projects: YouTube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8CE111C-E7D1-C660-AB24-7B23CDC60462}"/>
              </a:ext>
            </a:extLst>
          </p:cNvPr>
          <p:cNvSpPr/>
          <p:nvPr/>
        </p:nvSpPr>
        <p:spPr>
          <a:xfrm>
            <a:off x="427383" y="0"/>
            <a:ext cx="11370365" cy="3120887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3392C4D-C5A7-9438-0773-1C902995D61F}"/>
              </a:ext>
            </a:extLst>
          </p:cNvPr>
          <p:cNvSpPr/>
          <p:nvPr/>
        </p:nvSpPr>
        <p:spPr>
          <a:xfrm>
            <a:off x="765313" y="3359426"/>
            <a:ext cx="10942983" cy="3230217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20760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48401B6-B85E-4ADA-E935-4272B34AE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"/>
            <a:ext cx="10515600" cy="927099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rgbClr val="002060"/>
                </a:solidFill>
                <a:latin typeface="Algerian" panose="04020705040A02060702" pitchFamily="82" charset="0"/>
              </a:rPr>
              <a:t>Code Summary</a:t>
            </a:r>
            <a:endParaRPr lang="en-IN" sz="4000" b="1" dirty="0">
              <a:solidFill>
                <a:srgbClr val="002060"/>
              </a:solidFill>
              <a:latin typeface="Algerian" panose="04020705040A02060702" pitchFamily="82" charset="0"/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0D383AE-D2FF-545C-2C22-FBD909B57B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49300" y="762001"/>
            <a:ext cx="5157787" cy="749300"/>
          </a:xfrm>
        </p:spPr>
        <p:txBody>
          <a:bodyPr>
            <a:normAutofit lnSpcReduction="10000"/>
          </a:bodyPr>
          <a:lstStyle/>
          <a:p>
            <a:pPr algn="ctr"/>
            <a:r>
              <a:rPr lang="en-IN" dirty="0">
                <a:solidFill>
                  <a:srgbClr val="FF0000"/>
                </a:solidFill>
                <a:latin typeface="Algerian" panose="04020705040A02060702" pitchFamily="82" charset="0"/>
              </a:rPr>
              <a:t>💻 Example Code Snippet (System Monitoring):</a:t>
            </a:r>
          </a:p>
        </p:txBody>
      </p:sp>
      <p:pic>
        <p:nvPicPr>
          <p:cNvPr id="13" name="Content Placeholder 12" descr="A computer screen with white text&#10;&#10;AI-generated content may be incorrect.">
            <a:extLst>
              <a:ext uri="{FF2B5EF4-FFF2-40B4-BE49-F238E27FC236}">
                <a16:creationId xmlns:a16="http://schemas.microsoft.com/office/drawing/2014/main" id="{EAC539E0-23EF-46B4-F2B5-68208DDD70D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612" y="1498433"/>
            <a:ext cx="4878388" cy="5067467"/>
          </a:xfrm>
        </p:spPr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D240F0E-D7C5-04A4-6550-04747FF3B8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59512" y="687389"/>
            <a:ext cx="5183188" cy="823912"/>
          </a:xfrm>
        </p:spPr>
        <p:txBody>
          <a:bodyPr>
            <a:normAutofit lnSpcReduction="10000"/>
          </a:bodyPr>
          <a:lstStyle/>
          <a:p>
            <a:pPr algn="ctr"/>
            <a:r>
              <a:rPr lang="en-US" dirty="0">
                <a:solidFill>
                  <a:srgbClr val="FF0000"/>
                </a:solidFill>
                <a:latin typeface="Algerian" panose="04020705040A02060702" pitchFamily="82" charset="0"/>
              </a:rPr>
              <a:t>💻 Example Code Snippet (Virus Scan via Hash Check):</a:t>
            </a:r>
            <a:endParaRPr lang="en-IN" dirty="0">
              <a:solidFill>
                <a:srgbClr val="FF0000"/>
              </a:solidFill>
              <a:latin typeface="Algerian" panose="04020705040A02060702" pitchFamily="82" charset="0"/>
            </a:endParaRPr>
          </a:p>
        </p:txBody>
      </p:sp>
      <p:pic>
        <p:nvPicPr>
          <p:cNvPr id="15" name="Content Placeholder 14" descr="A computer screen shot of a computer code&#10;&#10;AI-generated content may be incorrect.">
            <a:extLst>
              <a:ext uri="{FF2B5EF4-FFF2-40B4-BE49-F238E27FC236}">
                <a16:creationId xmlns:a16="http://schemas.microsoft.com/office/drawing/2014/main" id="{7C5AF8C1-1969-A513-0CD3-7FFCAD7548C6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2211" y="1511301"/>
            <a:ext cx="5183188" cy="5054599"/>
          </a:xfr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648D60E-9E4B-DDAA-ACE6-154B393E633B}"/>
              </a:ext>
            </a:extLst>
          </p:cNvPr>
          <p:cNvSpPr/>
          <p:nvPr/>
        </p:nvSpPr>
        <p:spPr>
          <a:xfrm>
            <a:off x="487017" y="762001"/>
            <a:ext cx="5516218" cy="609599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F0C515A-C0A7-2692-1734-D82AC9912E25}"/>
              </a:ext>
            </a:extLst>
          </p:cNvPr>
          <p:cNvSpPr/>
          <p:nvPr/>
        </p:nvSpPr>
        <p:spPr>
          <a:xfrm>
            <a:off x="6259512" y="762001"/>
            <a:ext cx="5516218" cy="609599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97754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E62F819F-88EC-0CD0-F5AA-4ACD5E79EB6F}"/>
              </a:ext>
            </a:extLst>
          </p:cNvPr>
          <p:cNvSpPr txBox="1"/>
          <p:nvPr/>
        </p:nvSpPr>
        <p:spPr>
          <a:xfrm>
            <a:off x="1606340" y="452874"/>
            <a:ext cx="8703269" cy="7325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800" b="1" dirty="0"/>
              <a:t> </a:t>
            </a:r>
            <a:r>
              <a:rPr lang="en-US" sz="2800" b="1" dirty="0">
                <a:solidFill>
                  <a:srgbClr val="002060"/>
                </a:solidFill>
                <a:latin typeface="Algerian" panose="04020705040A02060702" pitchFamily="82" charset="0"/>
              </a:rPr>
              <a:t>Personal Assistant Module</a:t>
            </a:r>
          </a:p>
          <a:p>
            <a:pPr>
              <a:buNone/>
            </a:pPr>
            <a:r>
              <a:rPr lang="en-US" dirty="0"/>
              <a:t>The </a:t>
            </a:r>
            <a:r>
              <a:rPr lang="en-US" b="1" dirty="0"/>
              <a:t>Personal Assistant Module</a:t>
            </a:r>
            <a:r>
              <a:rPr lang="en-US" dirty="0"/>
              <a:t> makes Artery act like a </a:t>
            </a:r>
            <a:r>
              <a:rPr lang="en-US" b="1" dirty="0"/>
              <a:t>real human helper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Handles </a:t>
            </a:r>
            <a:r>
              <a:rPr lang="en-US" b="1" dirty="0"/>
              <a:t>calls, SMS, WhatsApp, and emails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Can </a:t>
            </a:r>
            <a:r>
              <a:rPr lang="en-US" b="1" dirty="0"/>
              <a:t>reply to messages automatically</a:t>
            </a:r>
            <a:r>
              <a:rPr lang="en-US" dirty="0"/>
              <a:t> in a human-like way.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Reads out </a:t>
            </a:r>
            <a:r>
              <a:rPr lang="en-US" b="1" dirty="0"/>
              <a:t>notifications</a:t>
            </a:r>
            <a:r>
              <a:rPr lang="en-US" dirty="0"/>
              <a:t> and responds via </a:t>
            </a:r>
            <a:r>
              <a:rPr lang="en-US" b="1" dirty="0"/>
              <a:t>voice or text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Works across </a:t>
            </a:r>
            <a:r>
              <a:rPr lang="en-US" b="1" dirty="0"/>
              <a:t>PC + Mobile integration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IN" sz="3200" dirty="0"/>
              <a:t>                                        </a:t>
            </a:r>
          </a:p>
          <a:p>
            <a:r>
              <a:rPr lang="en-IN" sz="3200" dirty="0"/>
              <a:t>                                  🔄 Block Diagram:</a:t>
            </a:r>
            <a:endParaRPr lang="en-US" sz="3200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12" name="Picture 11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26932602-D583-4911-BC3F-500BE99653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5322" y="3632200"/>
            <a:ext cx="5219700" cy="3225800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4401D1E-81CC-12AD-E496-9EBBCB1262EF}"/>
              </a:ext>
            </a:extLst>
          </p:cNvPr>
          <p:cNvSpPr/>
          <p:nvPr/>
        </p:nvSpPr>
        <p:spPr>
          <a:xfrm>
            <a:off x="1306286" y="291402"/>
            <a:ext cx="9279374" cy="249199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00B02CF-85B4-8E75-5C97-3EBB513A6DEC}"/>
              </a:ext>
            </a:extLst>
          </p:cNvPr>
          <p:cNvSpPr/>
          <p:nvPr/>
        </p:nvSpPr>
        <p:spPr>
          <a:xfrm>
            <a:off x="1426866" y="3074797"/>
            <a:ext cx="9063613" cy="3783204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92740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018D284-08BA-D86E-34DF-0FA6F2D8A908}"/>
              </a:ext>
            </a:extLst>
          </p:cNvPr>
          <p:cNvSpPr txBox="1"/>
          <p:nvPr/>
        </p:nvSpPr>
        <p:spPr>
          <a:xfrm>
            <a:off x="1008270" y="652003"/>
            <a:ext cx="9080500" cy="3631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3600" b="1" dirty="0"/>
              <a:t>           </a:t>
            </a:r>
            <a:r>
              <a:rPr lang="en-IN" sz="3600" b="1" dirty="0">
                <a:solidFill>
                  <a:srgbClr val="002060"/>
                </a:solidFill>
                <a:latin typeface="Algerian" panose="04020705040A02060702" pitchFamily="82" charset="0"/>
              </a:rPr>
              <a:t>⚙️ Define Working:</a:t>
            </a:r>
          </a:p>
          <a:p>
            <a:pPr>
              <a:buFont typeface="+mj-lt"/>
              <a:buAutoNum type="arabicPeriod"/>
            </a:pPr>
            <a:r>
              <a:rPr lang="en-IN" b="1" dirty="0"/>
              <a:t>Notification Capture</a:t>
            </a:r>
            <a:r>
              <a:rPr lang="en-IN" dirty="0"/>
              <a:t> – Hooks into phone/desktop APIs.</a:t>
            </a:r>
          </a:p>
          <a:p>
            <a:pPr>
              <a:buFont typeface="+mj-lt"/>
              <a:buAutoNum type="arabicPeriod"/>
            </a:pPr>
            <a:r>
              <a:rPr lang="en-IN" b="1" dirty="0"/>
              <a:t>Understanding Message</a:t>
            </a:r>
            <a:r>
              <a:rPr lang="en-IN" dirty="0"/>
              <a:t> – NLP engine </a:t>
            </a:r>
            <a:r>
              <a:rPr lang="en-IN" dirty="0" err="1"/>
              <a:t>analyzes</a:t>
            </a:r>
            <a:r>
              <a:rPr lang="en-IN" dirty="0"/>
              <a:t> tone &amp; intent.</a:t>
            </a:r>
          </a:p>
          <a:p>
            <a:pPr>
              <a:buFont typeface="+mj-lt"/>
              <a:buAutoNum type="arabicPeriod"/>
            </a:pPr>
            <a:r>
              <a:rPr lang="en-IN" b="1" dirty="0"/>
              <a:t>Generate Reply</a:t>
            </a:r>
            <a:r>
              <a:rPr lang="en-IN" dirty="0"/>
              <a:t> – Uses trained model (like GPT).</a:t>
            </a:r>
          </a:p>
          <a:p>
            <a:pPr>
              <a:buFont typeface="+mj-lt"/>
              <a:buAutoNum type="arabicPeriod"/>
            </a:pPr>
            <a:r>
              <a:rPr lang="en-IN" b="1" dirty="0"/>
              <a:t>Send Reply Automatically</a:t>
            </a:r>
            <a:r>
              <a:rPr lang="en-IN" dirty="0"/>
              <a:t> – Through Twilio, WhatsApp Business API, Gmail API etc.</a:t>
            </a:r>
          </a:p>
          <a:p>
            <a:pPr>
              <a:buFont typeface="+mj-lt"/>
              <a:buAutoNum type="arabicPeriod"/>
            </a:pPr>
            <a:endParaRPr lang="en-IN" dirty="0"/>
          </a:p>
          <a:p>
            <a:pPr algn="ctr"/>
            <a:r>
              <a:rPr lang="en-IN" sz="3200" b="1" dirty="0">
                <a:solidFill>
                  <a:srgbClr val="002060"/>
                </a:solidFill>
                <a:latin typeface="Algerian" panose="04020705040A02060702" pitchFamily="82" charset="0"/>
              </a:rPr>
              <a:t>🎥 Tutorial URLs:</a:t>
            </a:r>
          </a:p>
          <a:p>
            <a:r>
              <a:rPr lang="en-IN" b="1" dirty="0"/>
              <a:t>                                 Twilio SMS API Setup:</a:t>
            </a:r>
            <a:r>
              <a:rPr lang="en-IN" dirty="0"/>
              <a:t> </a:t>
            </a:r>
            <a:r>
              <a:rPr lang="en-IN" dirty="0">
                <a:hlinkClick r:id="rId3"/>
              </a:rPr>
              <a:t>YouTube</a:t>
            </a:r>
            <a:endParaRPr lang="en-IN" dirty="0"/>
          </a:p>
          <a:p>
            <a:r>
              <a:rPr lang="en-IN" b="1" dirty="0"/>
              <a:t>                                  WhatsApp Bot with Python:</a:t>
            </a:r>
            <a:r>
              <a:rPr lang="en-IN" dirty="0"/>
              <a:t> </a:t>
            </a:r>
            <a:r>
              <a:rPr lang="en-IN" dirty="0">
                <a:hlinkClick r:id="rId4"/>
              </a:rPr>
              <a:t>YouTube</a:t>
            </a:r>
            <a:endParaRPr lang="en-IN" dirty="0"/>
          </a:p>
          <a:p>
            <a:r>
              <a:rPr lang="en-IN" b="1" dirty="0"/>
              <a:t>                                  Gmail API with Python:</a:t>
            </a:r>
            <a:r>
              <a:rPr lang="en-IN" dirty="0"/>
              <a:t> </a:t>
            </a:r>
            <a:r>
              <a:rPr lang="en-IN" dirty="0">
                <a:hlinkClick r:id="rId5"/>
              </a:rPr>
              <a:t>YouTube</a:t>
            </a:r>
            <a:endParaRPr lang="en-IN" dirty="0"/>
          </a:p>
          <a:p>
            <a:endParaRPr lang="en-IN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EB118DD-8C50-6937-9FCB-EBC390D3132F}"/>
              </a:ext>
            </a:extLst>
          </p:cNvPr>
          <p:cNvSpPr/>
          <p:nvPr/>
        </p:nvSpPr>
        <p:spPr>
          <a:xfrm>
            <a:off x="795129" y="391886"/>
            <a:ext cx="10098157" cy="213025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B5538D4-C813-E9E4-9368-4BC79B756CD3}"/>
              </a:ext>
            </a:extLst>
          </p:cNvPr>
          <p:cNvSpPr/>
          <p:nvPr/>
        </p:nvSpPr>
        <p:spPr>
          <a:xfrm>
            <a:off x="904461" y="2733152"/>
            <a:ext cx="9988826" cy="187832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723849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021D6F-3547-7331-E6AC-240DF2731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"/>
            <a:ext cx="10515600" cy="823912"/>
          </a:xfrm>
        </p:spPr>
        <p:txBody>
          <a:bodyPr/>
          <a:lstStyle/>
          <a:p>
            <a:pPr algn="ctr"/>
            <a:r>
              <a:rPr lang="en-US" dirty="0"/>
              <a:t>        </a:t>
            </a:r>
            <a:r>
              <a:rPr lang="en-US" dirty="0">
                <a:solidFill>
                  <a:srgbClr val="002060"/>
                </a:solidFill>
              </a:rPr>
              <a:t>Code Summary  </a:t>
            </a:r>
            <a:endParaRPr lang="en-IN" dirty="0">
              <a:solidFill>
                <a:srgbClr val="00206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ED6B5A-2198-5B41-5C36-EEDB78A9AB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3192" y="668337"/>
            <a:ext cx="5334384" cy="823912"/>
          </a:xfrm>
        </p:spPr>
        <p:txBody>
          <a:bodyPr>
            <a:no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  <a:latin typeface="Algerian" panose="04020705040A02060702" pitchFamily="82" charset="0"/>
              </a:rPr>
              <a:t>💻 Example Code Snippet (SMS with Twilio):</a:t>
            </a:r>
            <a:endParaRPr lang="en-IN" dirty="0">
              <a:solidFill>
                <a:srgbClr val="FF0000"/>
              </a:solidFill>
              <a:latin typeface="Algerian" panose="04020705040A02060702" pitchFamily="82" charset="0"/>
            </a:endParaRPr>
          </a:p>
        </p:txBody>
      </p:sp>
      <p:pic>
        <p:nvPicPr>
          <p:cNvPr id="8" name="Content Placeholder 7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62758B7D-E478-2CD0-045F-3D80C1CF590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612" y="1625600"/>
            <a:ext cx="4535488" cy="4564063"/>
          </a:xfr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17C4B0-AAED-C28F-D2B7-97C35ED748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"/>
            <a:ext cx="5183188" cy="1892300"/>
          </a:xfrm>
        </p:spPr>
        <p:txBody>
          <a:bodyPr>
            <a:noAutofit/>
          </a:bodyPr>
          <a:lstStyle/>
          <a:p>
            <a:endParaRPr lang="en-US" dirty="0"/>
          </a:p>
          <a:p>
            <a:endParaRPr lang="en-US" sz="4900" dirty="0"/>
          </a:p>
          <a:p>
            <a:endParaRPr lang="en-US" sz="4900" dirty="0"/>
          </a:p>
          <a:p>
            <a:endParaRPr lang="en-US" sz="4900" dirty="0"/>
          </a:p>
          <a:p>
            <a:endParaRPr lang="en-US" sz="7200" dirty="0"/>
          </a:p>
          <a:p>
            <a:endParaRPr lang="en-US" dirty="0"/>
          </a:p>
          <a:p>
            <a:pPr algn="ctr"/>
            <a:r>
              <a:rPr lang="en-US" dirty="0">
                <a:solidFill>
                  <a:srgbClr val="FF0000"/>
                </a:solidFill>
                <a:latin typeface="Algerian" panose="04020705040A02060702" pitchFamily="82" charset="0"/>
              </a:rPr>
              <a:t>💻 Example Code Snippet (Email Reply with Gmail API):</a:t>
            </a:r>
          </a:p>
          <a:p>
            <a:endParaRPr lang="en-IN" dirty="0"/>
          </a:p>
        </p:txBody>
      </p:sp>
      <p:pic>
        <p:nvPicPr>
          <p:cNvPr id="9" name="Content Placeholder 8" descr="A computer screen with white and green text&#10;&#10;AI-generated content may be incorrect.">
            <a:extLst>
              <a:ext uri="{FF2B5EF4-FFF2-40B4-BE49-F238E27FC236}">
                <a16:creationId xmlns:a16="http://schemas.microsoft.com/office/drawing/2014/main" id="{E40A1034-04B6-E569-56E9-2DE754306F31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7575" y="1625600"/>
            <a:ext cx="5730599" cy="4564063"/>
          </a:xfr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6AD91B3-50B5-1309-7A13-0E714D08108D}"/>
              </a:ext>
            </a:extLst>
          </p:cNvPr>
          <p:cNvSpPr/>
          <p:nvPr/>
        </p:nvSpPr>
        <p:spPr>
          <a:xfrm>
            <a:off x="422031" y="668337"/>
            <a:ext cx="5334384" cy="603391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330774-436C-C6CD-B7B2-F97D93C9876B}"/>
              </a:ext>
            </a:extLst>
          </p:cNvPr>
          <p:cNvSpPr/>
          <p:nvPr/>
        </p:nvSpPr>
        <p:spPr>
          <a:xfrm>
            <a:off x="5933011" y="668337"/>
            <a:ext cx="6036323" cy="596106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125588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26B6CCA-CDD2-AB03-4552-C1BD2C754A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19458"/>
          </a:xfrm>
        </p:spPr>
        <p:txBody>
          <a:bodyPr>
            <a:normAutofit fontScale="90000"/>
          </a:bodyPr>
          <a:lstStyle/>
          <a:p>
            <a:pPr algn="ctr"/>
            <a:r>
              <a:rPr lang="en-IN" sz="3600" b="1" dirty="0">
                <a:solidFill>
                  <a:srgbClr val="002060"/>
                </a:solidFill>
                <a:latin typeface="Algerian" panose="04020705040A02060702" pitchFamily="82" charset="0"/>
              </a:rPr>
              <a:t>Vision System (Face + Object Recognition</a:t>
            </a:r>
            <a:r>
              <a:rPr lang="en-IN" sz="3600" dirty="0">
                <a:solidFill>
                  <a:srgbClr val="002060"/>
                </a:solidFill>
                <a:latin typeface="Algerian" panose="04020705040A02060702" pitchFamily="82" charset="0"/>
              </a:rPr>
              <a:t>)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ABE0E50-4951-19BE-545B-B80F5D68ABF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08822" y="1120678"/>
            <a:ext cx="10344978" cy="46166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lgerian" panose="04020705040A02060702" pitchFamily="82" charset="0"/>
              </a:rPr>
              <a:t>Define Working: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Uses camera input + OpenCV + Deep Learning (CNN models like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ResNet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YOLO).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Detects face, objects, gestures.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Helps Artery recognize you and environment.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lgerian" panose="04020705040A02060702" pitchFamily="82" charset="0"/>
              </a:rPr>
              <a:t>Block Diagram:</a:t>
            </a:r>
            <a:b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lgerian" panose="04020705040A02060702" pitchFamily="82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Camera → Preprocessing → CNN Model → Recognition → Output (Name/Object/Action).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lgerian" panose="04020705040A02060702" pitchFamily="82" charset="0"/>
              </a:rPr>
              <a:t>Flowchart: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Start → Capture Frame → Detect Face/Object → Match with Database → Take Action → End.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1800" b="1" dirty="0"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lgerian" panose="04020705040A02060702" pitchFamily="82" charset="0"/>
              </a:rPr>
              <a:t>Tutorial URL:</a:t>
            </a:r>
            <a:b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lgerian" panose="04020705040A02060702" pitchFamily="82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3"/>
              </a:rPr>
              <a:t>OpenCV Face Recognition Tutorial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37556E2-41E5-0610-8714-B397340046D3}"/>
              </a:ext>
            </a:extLst>
          </p:cNvPr>
          <p:cNvSpPr/>
          <p:nvPr/>
        </p:nvSpPr>
        <p:spPr>
          <a:xfrm>
            <a:off x="838200" y="1120678"/>
            <a:ext cx="10515600" cy="142373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8F4A3EF-064F-804B-8C08-2F1D34F13A49}"/>
              </a:ext>
            </a:extLst>
          </p:cNvPr>
          <p:cNvSpPr/>
          <p:nvPr/>
        </p:nvSpPr>
        <p:spPr>
          <a:xfrm>
            <a:off x="914400" y="2703443"/>
            <a:ext cx="10439400" cy="97403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1E0151D-F959-23A0-F3AA-7A3A567349F8}"/>
              </a:ext>
            </a:extLst>
          </p:cNvPr>
          <p:cNvSpPr/>
          <p:nvPr/>
        </p:nvSpPr>
        <p:spPr>
          <a:xfrm>
            <a:off x="838200" y="3836505"/>
            <a:ext cx="10515600" cy="101379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ACFB992-65A9-FF1D-6C6B-66459D9A61F3}"/>
              </a:ext>
            </a:extLst>
          </p:cNvPr>
          <p:cNvSpPr/>
          <p:nvPr/>
        </p:nvSpPr>
        <p:spPr>
          <a:xfrm>
            <a:off x="914400" y="5009324"/>
            <a:ext cx="10439400" cy="113306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76363CA-B025-2230-3DA8-1CAC3B4DE577}"/>
              </a:ext>
            </a:extLst>
          </p:cNvPr>
          <p:cNvSpPr/>
          <p:nvPr/>
        </p:nvSpPr>
        <p:spPr>
          <a:xfrm>
            <a:off x="238539" y="198783"/>
            <a:ext cx="11678478" cy="652006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817901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DC18E0C6-C53C-BC55-B686-03022C20AD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061" y="1550628"/>
            <a:ext cx="9399582" cy="4641449"/>
          </a:xfr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BBF443AD-EA86-EC78-95AC-9F23361211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67668" y="504686"/>
            <a:ext cx="9847568" cy="10464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lgerian" panose="04020705040A02060702" pitchFamily="82" charset="0"/>
              </a:rPr>
              <a:t> Code Snippet (Face Recognition):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4BE7E2B-9D72-F3CA-D74E-9F416BE79FC9}"/>
              </a:ext>
            </a:extLst>
          </p:cNvPr>
          <p:cNvSpPr/>
          <p:nvPr/>
        </p:nvSpPr>
        <p:spPr>
          <a:xfrm>
            <a:off x="467139" y="238539"/>
            <a:ext cx="10957193" cy="637098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480388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2E411-6F10-E0A5-A822-0949861A91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69573"/>
            <a:ext cx="10515600" cy="805069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solidFill>
                  <a:srgbClr val="002060"/>
                </a:solidFill>
                <a:latin typeface="Algerian" panose="04020705040A02060702" pitchFamily="82" charset="0"/>
              </a:rPr>
              <a:t>2D/3D Avatar &amp; Hologram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71F4171-FE7C-5D50-2A9C-6863F91A5C2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575351" y="805584"/>
            <a:ext cx="8060635" cy="52014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lgerian" panose="04020705040A02060702" pitchFamily="82" charset="0"/>
              </a:rPr>
              <a:t>Define Working: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2D avatar with animation (using Python +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Pygame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/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Tkinter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+ AI voice sync).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3D hologram (Unity/Blender + AR/VR support).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Shows Artery as “human-like” interface.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rgbClr val="C00000"/>
              </a:solidFill>
              <a:effectLst/>
              <a:latin typeface="Algerian" panose="04020705040A02060702" pitchFamily="82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rgbClr val="C00000"/>
              </a:solidFill>
              <a:effectLst/>
              <a:latin typeface="Algerian" panose="04020705040A02060702" pitchFamily="82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lgerian" panose="04020705040A02060702" pitchFamily="82" charset="0"/>
              </a:rPr>
              <a:t>Block Diagram: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Text/Voice Input → Avatar Engine → Lip Sync/Emotion → Display (2D/3D).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rgbClr val="C00000"/>
              </a:solidFill>
              <a:effectLst/>
              <a:latin typeface="Algerian" panose="04020705040A02060702" pitchFamily="82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rgbClr val="C00000"/>
              </a:solidFill>
              <a:effectLst/>
              <a:latin typeface="Algerian" panose="04020705040A02060702" pitchFamily="82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lgerian" panose="04020705040A02060702" pitchFamily="82" charset="0"/>
              </a:rPr>
              <a:t>Flowchart: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Input → Avatar Generate → Sync with Voice/Emotion → Output Display.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rgbClr val="C00000"/>
              </a:solidFill>
              <a:effectLst/>
              <a:latin typeface="Algerian" panose="04020705040A02060702" pitchFamily="82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2000" b="1" dirty="0">
              <a:solidFill>
                <a:srgbClr val="C00000"/>
              </a:solidFill>
              <a:latin typeface="Algerian" panose="04020705040A02060702" pitchFamily="82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rgbClr val="C00000"/>
              </a:solidFill>
              <a:effectLst/>
              <a:latin typeface="Algerian" panose="04020705040A02060702" pitchFamily="82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lgerian" panose="04020705040A02060702" pitchFamily="82" charset="0"/>
              </a:rPr>
              <a:t>Tutorial URL:</a:t>
            </a:r>
            <a:b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lgerian" panose="04020705040A02060702" pitchFamily="82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2"/>
              </a:rPr>
              <a:t>3D Avatar AI Tutorial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57E9DA6-5D67-32F8-CEDF-681D29FEB3B2}"/>
              </a:ext>
            </a:extLst>
          </p:cNvPr>
          <p:cNvSpPr/>
          <p:nvPr/>
        </p:nvSpPr>
        <p:spPr>
          <a:xfrm>
            <a:off x="1451113" y="850992"/>
            <a:ext cx="8229599" cy="137537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9D73AE4-3484-9916-0592-2FFB954CEA55}"/>
              </a:ext>
            </a:extLst>
          </p:cNvPr>
          <p:cNvSpPr/>
          <p:nvPr/>
        </p:nvSpPr>
        <p:spPr>
          <a:xfrm>
            <a:off x="1451113" y="2564296"/>
            <a:ext cx="8309113" cy="864704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21871EC-E8A9-94E9-FD9F-D626294AE38A}"/>
              </a:ext>
            </a:extLst>
          </p:cNvPr>
          <p:cNvSpPr/>
          <p:nvPr/>
        </p:nvSpPr>
        <p:spPr>
          <a:xfrm>
            <a:off x="1575351" y="3786809"/>
            <a:ext cx="8184875" cy="864704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9ACF95C-17B2-1940-86B0-36E78031434A}"/>
              </a:ext>
            </a:extLst>
          </p:cNvPr>
          <p:cNvSpPr/>
          <p:nvPr/>
        </p:nvSpPr>
        <p:spPr>
          <a:xfrm>
            <a:off x="1620077" y="5257800"/>
            <a:ext cx="8060635" cy="95415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C9893AC-BED4-99B8-979A-9A226A2D3246}"/>
              </a:ext>
            </a:extLst>
          </p:cNvPr>
          <p:cNvSpPr/>
          <p:nvPr/>
        </p:nvSpPr>
        <p:spPr>
          <a:xfrm>
            <a:off x="838200" y="0"/>
            <a:ext cx="10432774" cy="6858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020780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647055-DFF6-72BE-A69D-14EA3DBE7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solidFill>
                  <a:srgbClr val="002060"/>
                </a:solidFill>
                <a:latin typeface="Algerian" panose="04020705040A02060702" pitchFamily="82" charset="0"/>
              </a:rPr>
              <a:t>Code Snippet (2D Avatar basic):</a:t>
            </a:r>
          </a:p>
        </p:txBody>
      </p:sp>
      <p:pic>
        <p:nvPicPr>
          <p:cNvPr id="5" name="Content Placeholder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8421BE9B-8F46-D3D7-ACCD-1ACF32C343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837325"/>
            <a:ext cx="10297828" cy="4146032"/>
          </a:xfr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A835194-858A-7695-59E1-8C6F2B25AFE3}"/>
              </a:ext>
            </a:extLst>
          </p:cNvPr>
          <p:cNvSpPr/>
          <p:nvPr/>
        </p:nvSpPr>
        <p:spPr>
          <a:xfrm>
            <a:off x="308113" y="365125"/>
            <a:ext cx="11410122" cy="604561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976800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9EB54-21E1-B6D6-2CB1-B8FD273467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913" y="18255"/>
            <a:ext cx="11579087" cy="1325563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rgbClr val="002060"/>
                </a:solidFill>
                <a:latin typeface="Algerian" panose="04020705040A02060702" pitchFamily="82" charset="0"/>
              </a:rPr>
              <a:t>Personal Assistant (Calls, Messages, Scheduling)</a:t>
            </a:r>
            <a:endParaRPr lang="en-IN" sz="3600" b="1" dirty="0">
              <a:solidFill>
                <a:srgbClr val="002060"/>
              </a:solidFill>
              <a:latin typeface="Algerian" panose="04020705040A02060702" pitchFamily="82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022B0A4-5B4D-233A-B9B8-6F2F4E8C378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256182" y="1042450"/>
            <a:ext cx="8239539" cy="51706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lgerian" panose="04020705040A02060702" pitchFamily="82" charset="0"/>
              </a:rPr>
              <a:t>Define Working: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Uses APIs like Twilio (calls, SMS), Google Calendar API (scheduling).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Voice + text commands trigger actions.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rgbClr val="C00000"/>
              </a:solidFill>
              <a:effectLst/>
              <a:latin typeface="Algerian" panose="04020705040A02060702" pitchFamily="82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rgbClr val="C00000"/>
              </a:solidFill>
              <a:effectLst/>
              <a:latin typeface="Algerian" panose="04020705040A02060702" pitchFamily="82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lgerian" panose="04020705040A02060702" pitchFamily="82" charset="0"/>
              </a:rPr>
              <a:t>Block Diagram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Command → NLP → API Call → Action (Call/SMS/Event).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rgbClr val="C00000"/>
              </a:solidFill>
              <a:effectLst/>
              <a:latin typeface="Algerian" panose="04020705040A02060702" pitchFamily="82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rgbClr val="C00000"/>
              </a:solidFill>
              <a:effectLst/>
              <a:latin typeface="Algerian" panose="04020705040A02060702" pitchFamily="82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lgerian" panose="04020705040A02060702" pitchFamily="82" charset="0"/>
              </a:rPr>
              <a:t>Flowchart: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Start → Listen → Understand Intent → Connect API → Send/Receive → End.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rgbClr val="C00000"/>
              </a:solidFill>
              <a:effectLst/>
              <a:latin typeface="Algerian" panose="04020705040A02060702" pitchFamily="82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2400" b="1" dirty="0">
              <a:solidFill>
                <a:srgbClr val="C00000"/>
              </a:solidFill>
              <a:latin typeface="Algerian" panose="04020705040A02060702" pitchFamily="82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lgerian" panose="04020705040A02060702" pitchFamily="82" charset="0"/>
              </a:rPr>
              <a:t>Tutorial URL:</a:t>
            </a:r>
            <a:b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lgerian" panose="04020705040A02060702" pitchFamily="82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2"/>
              </a:rPr>
              <a:t>Twilio Python SMS Tutorial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E124FEA-93CD-F97C-5027-67BDA44F6FBA}"/>
              </a:ext>
            </a:extLst>
          </p:cNvPr>
          <p:cNvSpPr/>
          <p:nvPr/>
        </p:nvSpPr>
        <p:spPr>
          <a:xfrm>
            <a:off x="1769165" y="1042450"/>
            <a:ext cx="8653670" cy="1501967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D62AA26-254D-C583-2B2F-738BB56A001E}"/>
              </a:ext>
            </a:extLst>
          </p:cNvPr>
          <p:cNvSpPr/>
          <p:nvPr/>
        </p:nvSpPr>
        <p:spPr>
          <a:xfrm>
            <a:off x="1769164" y="2753138"/>
            <a:ext cx="8557593" cy="102373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9FEE9A8-9D8B-CFC0-B592-39F3838CBF05}"/>
              </a:ext>
            </a:extLst>
          </p:cNvPr>
          <p:cNvSpPr/>
          <p:nvPr/>
        </p:nvSpPr>
        <p:spPr>
          <a:xfrm>
            <a:off x="1769165" y="4075043"/>
            <a:ext cx="8653670" cy="102373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3E58FC8-AC1B-5D70-6F4F-DBD4E30B263F}"/>
              </a:ext>
            </a:extLst>
          </p:cNvPr>
          <p:cNvSpPr/>
          <p:nvPr/>
        </p:nvSpPr>
        <p:spPr>
          <a:xfrm>
            <a:off x="1888435" y="5396948"/>
            <a:ext cx="8438322" cy="102373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37609F5-F3AE-55C8-F1C6-98775FD8BAED}"/>
              </a:ext>
            </a:extLst>
          </p:cNvPr>
          <p:cNvSpPr/>
          <p:nvPr/>
        </p:nvSpPr>
        <p:spPr>
          <a:xfrm>
            <a:off x="1113183" y="18255"/>
            <a:ext cx="10028582" cy="682149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867275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84A89-1644-A161-2429-6B68911BAC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8965"/>
            <a:ext cx="10515600" cy="555436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002060"/>
                </a:solidFill>
                <a:latin typeface="Algerian" panose="04020705040A02060702" pitchFamily="82" charset="0"/>
              </a:rPr>
              <a:t>Code Snippet (SMS):</a:t>
            </a:r>
          </a:p>
        </p:txBody>
      </p:sp>
      <p:pic>
        <p:nvPicPr>
          <p:cNvPr id="5" name="Content Placeholder 4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3331E78B-999B-67B1-03CC-FE20593539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6364" y="1172818"/>
            <a:ext cx="8861655" cy="3955774"/>
          </a:xfrm>
        </p:spPr>
      </p:pic>
    </p:spTree>
    <p:extLst>
      <p:ext uri="{BB962C8B-B14F-4D97-AF65-F5344CB8AC3E}">
        <p14:creationId xmlns:p14="http://schemas.microsoft.com/office/powerpoint/2010/main" val="425471081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1C9CF-E2A3-A003-909A-3854F3BD72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Security &amp; System Monitoring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0EF7633-0A37-3020-C8B6-197D8C72072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Define Working: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Scans system (antivirus APIs, malware detection).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Monitors CPU/GPU/Memory usage.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Warns of threats in PC/phone.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Block Diagram:</a:t>
            </a: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System Stats + Security Scan → Analyzer → AI Alert → User Notification.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Flowchart:</a:t>
            </a: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Start → Scan → Detect Threat/Overload → Alert User → Take Action.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Tutorial URL:</a:t>
            </a: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2"/>
              </a:rPr>
              <a:t>Python Security Scan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573449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5FB2284-CE0E-25AE-486C-FDA4FB7480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408" y="1781865"/>
            <a:ext cx="8492510" cy="2879032"/>
          </a:xfr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A4B7507B-9781-3E7D-7797-09BA488290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535464"/>
            <a:ext cx="7922362" cy="9848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lgerian" panose="04020705040A02060702" pitchFamily="82" charset="0"/>
              </a:rPr>
              <a:t>Code Snippet (System Usage):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700176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BECF6-0CA7-B20F-3569-8C8944D74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Self-Learning &amp; Adaptation(SALM)</a:t>
            </a:r>
            <a:br>
              <a:rPr lang="en-IN" b="1" dirty="0"/>
            </a:b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9937338-4E8C-356F-E692-C86EBC6F24F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79783" y="1027906"/>
            <a:ext cx="10515600" cy="4351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Define Working: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Machine Learning models update knowledge with interaction.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Stores user preferences, improves responses.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Block Diagram: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 Input → Model Training → Update Knowledge → Improved Output.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Flowchart: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Input → Train Model → Update Database → Respond → Feedback → Loop.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Tutorial URL: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2"/>
              </a:rPr>
              <a:t>Reinforcement Learning Basics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49387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9EA75-2123-A199-3016-3869FACEC5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000" b="1" dirty="0">
                <a:solidFill>
                  <a:srgbClr val="002060"/>
                </a:solidFill>
                <a:latin typeface="Algerian" panose="04020705040A02060702" pitchFamily="82" charset="0"/>
              </a:rPr>
              <a:t>Code Snippet</a:t>
            </a:r>
          </a:p>
        </p:txBody>
      </p:sp>
      <p:pic>
        <p:nvPicPr>
          <p:cNvPr id="6" name="Content Placeholder 5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A0EAB253-D4E0-83A1-D3E7-6CAA65590E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4219" y="1690688"/>
            <a:ext cx="8015640" cy="3577602"/>
          </a:xfrm>
        </p:spPr>
      </p:pic>
    </p:spTree>
    <p:extLst>
      <p:ext uri="{BB962C8B-B14F-4D97-AF65-F5344CB8AC3E}">
        <p14:creationId xmlns:p14="http://schemas.microsoft.com/office/powerpoint/2010/main" val="205030190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20327-04FB-9073-20C7-B7A241B5A9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2014"/>
          </a:xfrm>
        </p:spPr>
        <p:txBody>
          <a:bodyPr>
            <a:normAutofit fontScale="90000"/>
          </a:bodyPr>
          <a:lstStyle/>
          <a:p>
            <a:pPr algn="ctr"/>
            <a:r>
              <a:rPr lang="en-IN" sz="4000" b="1" dirty="0">
                <a:solidFill>
                  <a:srgbClr val="002060"/>
                </a:solidFill>
                <a:latin typeface="Algerian" panose="04020705040A02060702" pitchFamily="82" charset="0"/>
              </a:rPr>
              <a:t>Minimum System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0FC661-AD71-D049-F6A9-DF25E67B98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1209" y="723175"/>
            <a:ext cx="10515600" cy="5411650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IN" sz="2400" b="1" dirty="0">
                <a:solidFill>
                  <a:srgbClr val="FF0000"/>
                </a:solidFill>
                <a:latin typeface="Algerian" panose="04020705040A02060702" pitchFamily="82" charset="0"/>
              </a:rPr>
              <a:t>My System:</a:t>
            </a:r>
          </a:p>
          <a:p>
            <a:pPr lvl="1"/>
            <a:r>
              <a:rPr lang="en-IN" dirty="0"/>
              <a:t>ASUS TUF Gaming A15</a:t>
            </a:r>
          </a:p>
          <a:p>
            <a:pPr lvl="1"/>
            <a:r>
              <a:rPr lang="en-IN" dirty="0" err="1"/>
              <a:t>Ryzen</a:t>
            </a:r>
            <a:r>
              <a:rPr lang="en-IN" dirty="0"/>
              <a:t> 7, 16GB RAM, RTX 3050 (4GB), 512GB SSD, Windows 11.</a:t>
            </a:r>
          </a:p>
          <a:p>
            <a:pPr marL="0" indent="0" algn="ctr">
              <a:buNone/>
            </a:pPr>
            <a:r>
              <a:rPr lang="en-IN" sz="2400" b="1" dirty="0">
                <a:solidFill>
                  <a:srgbClr val="FF0000"/>
                </a:solidFill>
                <a:latin typeface="Algerian" panose="04020705040A02060702" pitchFamily="82" charset="0"/>
              </a:rPr>
              <a:t>Cloud Requirements:</a:t>
            </a:r>
          </a:p>
          <a:p>
            <a:pPr lvl="1"/>
            <a:r>
              <a:rPr lang="en-IN" dirty="0"/>
              <a:t>For heavy AI models (GPT, Vision), integrate with Google </a:t>
            </a:r>
            <a:r>
              <a:rPr lang="en-IN" dirty="0" err="1"/>
              <a:t>Colab</a:t>
            </a:r>
            <a:r>
              <a:rPr lang="en-IN" dirty="0"/>
              <a:t>, AWS, Azure, </a:t>
            </a:r>
            <a:r>
              <a:rPr lang="en-IN" dirty="0" err="1"/>
              <a:t>HuggingFace</a:t>
            </a:r>
            <a:r>
              <a:rPr lang="en-IN" dirty="0"/>
              <a:t>.</a:t>
            </a:r>
          </a:p>
          <a:p>
            <a:pPr marL="0" indent="0" algn="ctr">
              <a:buNone/>
            </a:pPr>
            <a:r>
              <a:rPr lang="en-IN" sz="2400" b="1" dirty="0">
                <a:solidFill>
                  <a:srgbClr val="FF0000"/>
                </a:solidFill>
                <a:latin typeface="Algerian" panose="04020705040A02060702" pitchFamily="82" charset="0"/>
              </a:rPr>
              <a:t>Model Requirements:</a:t>
            </a:r>
          </a:p>
          <a:p>
            <a:pPr lvl="1"/>
            <a:r>
              <a:rPr lang="en-IN" dirty="0"/>
              <a:t>Python 3.10+</a:t>
            </a:r>
          </a:p>
          <a:p>
            <a:pPr lvl="1"/>
            <a:r>
              <a:rPr lang="en-IN" dirty="0"/>
              <a:t>TensorFlow/</a:t>
            </a:r>
            <a:r>
              <a:rPr lang="en-IN" dirty="0" err="1"/>
              <a:t>PyTorch</a:t>
            </a:r>
            <a:r>
              <a:rPr lang="en-IN" dirty="0"/>
              <a:t>, OpenCV, NLTK/Spacy, Twilio, </a:t>
            </a:r>
            <a:r>
              <a:rPr lang="en-IN" dirty="0" err="1"/>
              <a:t>psutil</a:t>
            </a:r>
            <a:r>
              <a:rPr lang="en-IN" dirty="0"/>
              <a:t>.</a:t>
            </a:r>
          </a:p>
          <a:p>
            <a:pPr marL="0" indent="0" algn="ctr">
              <a:buNone/>
            </a:pPr>
            <a:r>
              <a:rPr lang="en-IN" sz="2400" b="1" dirty="0">
                <a:solidFill>
                  <a:srgbClr val="FF0000"/>
                </a:solidFill>
                <a:latin typeface="Algerian" panose="04020705040A02060702" pitchFamily="82" charset="0"/>
              </a:rPr>
              <a:t>System </a:t>
            </a:r>
            <a:r>
              <a:rPr lang="en-US" sz="2400" b="1" dirty="0">
                <a:solidFill>
                  <a:srgbClr val="FF0000"/>
                </a:solidFill>
                <a:latin typeface="Algerian" panose="04020705040A02060702" pitchFamily="82" charset="0"/>
              </a:rPr>
              <a:t>Requirements</a:t>
            </a:r>
            <a:r>
              <a:rPr lang="en-IN" sz="2400" b="1" dirty="0">
                <a:solidFill>
                  <a:srgbClr val="FF0000"/>
                </a:solidFill>
                <a:latin typeface="Algerian" panose="04020705040A02060702" pitchFamily="82" charset="0"/>
              </a:rPr>
              <a:t>:</a:t>
            </a:r>
          </a:p>
          <a:p>
            <a:pPr marL="0" indent="0">
              <a:buNone/>
            </a:pPr>
            <a:r>
              <a:rPr lang="en-IN" sz="2000" b="1" dirty="0">
                <a:solidFill>
                  <a:srgbClr val="00B0F0"/>
                </a:solidFill>
              </a:rPr>
              <a:t>Processor</a:t>
            </a:r>
            <a:r>
              <a:rPr lang="en-IN" sz="2000" b="1" dirty="0"/>
              <a:t>=</a:t>
            </a:r>
            <a:r>
              <a:rPr lang="en-IN" sz="2000" dirty="0"/>
              <a:t>intel (i5,i7,i9 )/</a:t>
            </a:r>
            <a:r>
              <a:rPr lang="en-IN" sz="2000" dirty="0" err="1"/>
              <a:t>Ryzen</a:t>
            </a:r>
            <a:r>
              <a:rPr lang="en-IN" sz="2000" dirty="0"/>
              <a:t> 5,7,9   And Above</a:t>
            </a:r>
          </a:p>
          <a:p>
            <a:pPr marL="0" indent="0">
              <a:buNone/>
            </a:pPr>
            <a:r>
              <a:rPr lang="en-IN" sz="2000" b="1" dirty="0">
                <a:solidFill>
                  <a:srgbClr val="00B0F0"/>
                </a:solidFill>
              </a:rPr>
              <a:t>Ram/Rom</a:t>
            </a:r>
            <a:r>
              <a:rPr lang="en-IN" sz="2000" b="1" dirty="0"/>
              <a:t>=</a:t>
            </a:r>
            <a:r>
              <a:rPr lang="en-IN" sz="2000" dirty="0"/>
              <a:t>8/256,16/512,24/1Tb  And Above</a:t>
            </a:r>
          </a:p>
          <a:p>
            <a:pPr marL="0" indent="0">
              <a:buNone/>
            </a:pPr>
            <a:r>
              <a:rPr lang="en-IN" sz="2000" b="1" dirty="0">
                <a:solidFill>
                  <a:srgbClr val="00B0F0"/>
                </a:solidFill>
              </a:rPr>
              <a:t>GPU</a:t>
            </a:r>
            <a:r>
              <a:rPr lang="en-IN" sz="2000" b="1" dirty="0"/>
              <a:t>=    </a:t>
            </a:r>
            <a:r>
              <a:rPr lang="en-IN" sz="2000" dirty="0"/>
              <a:t>RTX 3050 (4GB), RTX 4050 (6GB), RTX 8050 (16GB)  AND Above</a:t>
            </a:r>
          </a:p>
          <a:p>
            <a:pPr marL="0" indent="0">
              <a:buNone/>
            </a:pPr>
            <a:r>
              <a:rPr lang="en-IN" sz="2000" b="1" dirty="0" err="1">
                <a:solidFill>
                  <a:srgbClr val="00B0F0"/>
                </a:solidFill>
              </a:rPr>
              <a:t>Os</a:t>
            </a:r>
            <a:r>
              <a:rPr lang="en-IN" sz="2000" dirty="0"/>
              <a:t>= Window(10,11), Linux, Mac</a:t>
            </a:r>
          </a:p>
        </p:txBody>
      </p:sp>
    </p:spTree>
    <p:extLst>
      <p:ext uri="{BB962C8B-B14F-4D97-AF65-F5344CB8AC3E}">
        <p14:creationId xmlns:p14="http://schemas.microsoft.com/office/powerpoint/2010/main" val="407613530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C3FA67-78EC-ED4E-634E-26C376C7BE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solidFill>
                  <a:srgbClr val="002060"/>
                </a:solidFill>
                <a:latin typeface="Algerian" panose="04020705040A02060702" pitchFamily="82" charset="0"/>
              </a:rPr>
              <a:t>Problems &amp; Drawbacks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8BE289-E7C7-E960-04DF-678B7777B8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4174" y="1690688"/>
            <a:ext cx="6728791" cy="2771982"/>
          </a:xfrm>
        </p:spPr>
        <p:txBody>
          <a:bodyPr/>
          <a:lstStyle/>
          <a:p>
            <a:r>
              <a:rPr lang="en-US" dirty="0"/>
              <a:t>Heavy GPU usage (3D, deep learning).</a:t>
            </a:r>
          </a:p>
          <a:p>
            <a:r>
              <a:rPr lang="en-US" dirty="0"/>
              <a:t>Latency in voice + vision processing.</a:t>
            </a:r>
          </a:p>
          <a:p>
            <a:r>
              <a:rPr lang="en-US" dirty="0"/>
              <a:t>Cloud dependency (Requires High internet).</a:t>
            </a:r>
          </a:p>
          <a:p>
            <a:r>
              <a:rPr lang="en-US" dirty="0"/>
              <a:t>Privacy risks (face, voice, data storage).</a:t>
            </a:r>
          </a:p>
          <a:p>
            <a:endParaRPr lang="en-IN" dirty="0"/>
          </a:p>
        </p:txBody>
      </p:sp>
      <p:sp>
        <p:nvSpPr>
          <p:cNvPr id="4" name="Rectangle: Diagonal Corners Rounded 3">
            <a:extLst>
              <a:ext uri="{FF2B5EF4-FFF2-40B4-BE49-F238E27FC236}">
                <a16:creationId xmlns:a16="http://schemas.microsoft.com/office/drawing/2014/main" id="{DEDCC8A7-17C0-D450-A586-3F6051B9F63E}"/>
              </a:ext>
            </a:extLst>
          </p:cNvPr>
          <p:cNvSpPr/>
          <p:nvPr/>
        </p:nvSpPr>
        <p:spPr>
          <a:xfrm>
            <a:off x="2007704" y="536713"/>
            <a:ext cx="8408505" cy="4164496"/>
          </a:xfrm>
          <a:prstGeom prst="round2Diag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071259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436B3-C349-7D67-9C78-50E996D66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8748" y="305489"/>
            <a:ext cx="10515600" cy="1325563"/>
          </a:xfrm>
        </p:spPr>
        <p:txBody>
          <a:bodyPr/>
          <a:lstStyle/>
          <a:p>
            <a:pPr algn="ctr"/>
            <a:r>
              <a:rPr lang="en-IN" b="1" dirty="0">
                <a:solidFill>
                  <a:srgbClr val="002060"/>
                </a:solidFill>
                <a:latin typeface="Algerian" panose="04020705040A02060702" pitchFamily="82" charset="0"/>
              </a:rPr>
              <a:t>Future Advancements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62252F-9816-39C7-0735-A4F6ECDEE9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4113" y="1631052"/>
            <a:ext cx="6708914" cy="3249061"/>
          </a:xfrm>
        </p:spPr>
        <p:txBody>
          <a:bodyPr/>
          <a:lstStyle/>
          <a:p>
            <a:r>
              <a:rPr lang="en-US" dirty="0"/>
              <a:t>Full holographic 3D projection.</a:t>
            </a:r>
          </a:p>
          <a:p>
            <a:r>
              <a:rPr lang="en-US" dirty="0"/>
              <a:t>AR glasses integration.</a:t>
            </a:r>
          </a:p>
          <a:p>
            <a:r>
              <a:rPr lang="en-US" dirty="0"/>
              <a:t>Offline large language models.</a:t>
            </a:r>
          </a:p>
          <a:p>
            <a:r>
              <a:rPr lang="en-US" dirty="0"/>
              <a:t>Emotional intelligence like human-level.</a:t>
            </a:r>
          </a:p>
          <a:p>
            <a:endParaRPr lang="en-IN" dirty="0"/>
          </a:p>
        </p:txBody>
      </p:sp>
      <p:sp>
        <p:nvSpPr>
          <p:cNvPr id="4" name="Rectangle: Diagonal Corners Rounded 3">
            <a:extLst>
              <a:ext uri="{FF2B5EF4-FFF2-40B4-BE49-F238E27FC236}">
                <a16:creationId xmlns:a16="http://schemas.microsoft.com/office/drawing/2014/main" id="{C7440593-F5C1-2A13-BE3C-CD0D76D68CB0}"/>
              </a:ext>
            </a:extLst>
          </p:cNvPr>
          <p:cNvSpPr/>
          <p:nvPr/>
        </p:nvSpPr>
        <p:spPr>
          <a:xfrm>
            <a:off x="1808922" y="576470"/>
            <a:ext cx="8418443" cy="4303643"/>
          </a:xfrm>
          <a:prstGeom prst="round2Diag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425955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92FE2-4B99-BCE7-3CC3-74F87C59F0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69573"/>
            <a:ext cx="10515600" cy="675860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/>
              <a:t>          </a:t>
            </a:r>
            <a:r>
              <a:rPr lang="en-IN" sz="3100" b="1" dirty="0">
                <a:solidFill>
                  <a:srgbClr val="002060"/>
                </a:solidFill>
                <a:latin typeface="Algerian" panose="04020705040A02060702" pitchFamily="82" charset="0"/>
              </a:rPr>
              <a:t>Final Working Block Diagram And Prototype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C8AF798-A75D-0B34-F467-9E56F265B6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991" y="456784"/>
            <a:ext cx="6591935" cy="6143661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4ED13B6-D140-BDB1-AEA5-A5DF4B8E58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7703" y="3806687"/>
            <a:ext cx="4978886" cy="2793759"/>
          </a:xfrm>
          <a:prstGeom prst="rect">
            <a:avLst/>
          </a:prstGeom>
        </p:spPr>
      </p:pic>
      <p:pic>
        <p:nvPicPr>
          <p:cNvPr id="9" name="Picture 8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2CB71FB5-F806-ED16-66E4-F3574AE6347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7703" y="456785"/>
            <a:ext cx="4978886" cy="3260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694463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DD116-E333-D292-9333-B9A8C90E1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       </a:t>
            </a:r>
            <a:r>
              <a:rPr lang="en-IN" sz="4000" b="1" dirty="0">
                <a:solidFill>
                  <a:srgbClr val="002060"/>
                </a:solidFill>
                <a:latin typeface="Algerian" panose="04020705040A02060702" pitchFamily="82" charset="0"/>
              </a:rPr>
              <a:t>Creator (Short Intro)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E25BE3-96B8-D718-2A00-30E7D47D9D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Creator:</a:t>
            </a:r>
            <a:r>
              <a:rPr lang="en-IN" dirty="0"/>
              <a:t> Shivam Tyagi</a:t>
            </a:r>
          </a:p>
          <a:p>
            <a:r>
              <a:rPr lang="en-IN" dirty="0"/>
              <a:t>CSE Student, R.D. Engineering College (2027 Batch)</a:t>
            </a:r>
          </a:p>
          <a:p>
            <a:r>
              <a:rPr lang="en-IN" dirty="0"/>
              <a:t>Passion: AI, Data Science, Python and Java .</a:t>
            </a:r>
          </a:p>
          <a:p>
            <a:r>
              <a:rPr lang="en-IN" dirty="0"/>
              <a:t>Member of GDG</a:t>
            </a:r>
            <a:r>
              <a:rPr lang="en-US" dirty="0"/>
              <a:t> And Azure Microsoft.</a:t>
            </a:r>
            <a:endParaRPr lang="en-IN" dirty="0"/>
          </a:p>
          <a:p>
            <a:r>
              <a:rPr lang="en-IN" dirty="0"/>
              <a:t>Goal: To build </a:t>
            </a:r>
            <a:r>
              <a:rPr lang="en-IN" b="1" dirty="0"/>
              <a:t>Artery</a:t>
            </a:r>
            <a:r>
              <a:rPr lang="en-IN" dirty="0"/>
              <a:t> as a complete </a:t>
            </a:r>
            <a:r>
              <a:rPr lang="en-IN" b="1" dirty="0"/>
              <a:t>digital human clone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195316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435</TotalTime>
  <Words>2716</Words>
  <Application>Microsoft Office PowerPoint</Application>
  <PresentationFormat>Widescreen</PresentationFormat>
  <Paragraphs>398</Paragraphs>
  <Slides>42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8" baseType="lpstr">
      <vt:lpstr>Algerian</vt:lpstr>
      <vt:lpstr>Aptos</vt:lpstr>
      <vt:lpstr>Aptos Display</vt:lpstr>
      <vt:lpstr>Arial</vt:lpstr>
      <vt:lpstr>Arial Unicode MS</vt:lpstr>
      <vt:lpstr>Office Theme</vt:lpstr>
      <vt:lpstr>       Artery – Digital  human girl</vt:lpstr>
      <vt:lpstr>Artery –  Digital Human girl</vt:lpstr>
      <vt:lpstr>                  Features (Summary)</vt:lpstr>
      <vt:lpstr>                   Core Features of Artery</vt:lpstr>
      <vt:lpstr>Languages &amp; Technologies (Summary Table)</vt:lpstr>
      <vt:lpstr>Modules &amp; Their Technologies</vt:lpstr>
      <vt:lpstr>Modules &amp; Their Technologies</vt:lpstr>
      <vt:lpstr>Modules &amp; Technologies Used in Artery Block Diagram </vt:lpstr>
      <vt:lpstr>                         Define Working </vt:lpstr>
      <vt:lpstr>                                           🖼️ Block DiagraM:                                </vt:lpstr>
      <vt:lpstr>                   🔄 Flow Idea </vt:lpstr>
      <vt:lpstr>💻 Example Code Snippet (Feature – Chatbot with NLP):</vt:lpstr>
      <vt:lpstr>Response Module (Like ChatGPT)</vt:lpstr>
      <vt:lpstr>⚙️ Define Working:</vt:lpstr>
      <vt:lpstr>💻 Example Code Snippet:</vt:lpstr>
      <vt:lpstr>Voice Assistant Module</vt:lpstr>
      <vt:lpstr>⚙️ Define Working: </vt:lpstr>
      <vt:lpstr>💻 Example Code Snippet:</vt:lpstr>
      <vt:lpstr>Emotion Recognition Module</vt:lpstr>
      <vt:lpstr>⚙️ Define Working:</vt:lpstr>
      <vt:lpstr>💻 Example Code Snippet (Face Emotion Recognition):</vt:lpstr>
      <vt:lpstr>Security &amp; System Monitoring Module</vt:lpstr>
      <vt:lpstr>⚙️ Define Working:</vt:lpstr>
      <vt:lpstr>Code Summary</vt:lpstr>
      <vt:lpstr>PowerPoint Presentation</vt:lpstr>
      <vt:lpstr>PowerPoint Presentation</vt:lpstr>
      <vt:lpstr>        Code Summary  </vt:lpstr>
      <vt:lpstr>Vision System (Face + Object Recognition)</vt:lpstr>
      <vt:lpstr> Code Snippet (Face Recognition): </vt:lpstr>
      <vt:lpstr>2D/3D Avatar &amp; Hologram</vt:lpstr>
      <vt:lpstr>Code Snippet (2D Avatar basic):</vt:lpstr>
      <vt:lpstr>Personal Assistant (Calls, Messages, Scheduling)</vt:lpstr>
      <vt:lpstr>Code Snippet (SMS):</vt:lpstr>
      <vt:lpstr>Security &amp; System Monitoring</vt:lpstr>
      <vt:lpstr>Code Snippet (System Usage): </vt:lpstr>
      <vt:lpstr>Self-Learning &amp; Adaptation(SALM) </vt:lpstr>
      <vt:lpstr>Code Snippet</vt:lpstr>
      <vt:lpstr>Minimum System Requirements</vt:lpstr>
      <vt:lpstr>Problems &amp; Drawbacks</vt:lpstr>
      <vt:lpstr>Future Advancements</vt:lpstr>
      <vt:lpstr>          Final Working Block Diagram And Prototype</vt:lpstr>
      <vt:lpstr>       Creator (Short Intro)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Shivam tyagi</dc:creator>
  <cp:lastModifiedBy>Shivam tyagi</cp:lastModifiedBy>
  <cp:revision>1</cp:revision>
  <dcterms:created xsi:type="dcterms:W3CDTF">2025-09-04T06:33:11Z</dcterms:created>
  <dcterms:modified xsi:type="dcterms:W3CDTF">2025-12-08T13:27:17Z</dcterms:modified>
</cp:coreProperties>
</file>